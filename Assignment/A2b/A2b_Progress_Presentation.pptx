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45"/>
    <p:restoredTop sz="94610"/>
  </p:normalViewPr>
  <p:slideViewPr>
    <p:cSldViewPr snapToGrid="0" snapToObjects="1">
      <p:cViewPr>
        <p:scale>
          <a:sx n="81" d="100"/>
          <a:sy n="81" d="100"/>
        </p:scale>
        <p:origin x="1016"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726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41"/>
        </a:solidFill>
        <a:effectLst/>
      </p:bgPr>
    </p:bg>
    <p:spTree>
      <p:nvGrpSpPr>
        <p:cNvPr id="1" name=""/>
        <p:cNvGrpSpPr/>
        <p:nvPr/>
      </p:nvGrpSpPr>
      <p:grpSpPr>
        <a:xfrm>
          <a:off x="0" y="0"/>
          <a:ext cx="0" cy="0"/>
          <a:chOff x="0" y="0"/>
          <a:chExt cx="0" cy="0"/>
        </a:xfrm>
      </p:grpSpPr>
      <p:sp>
        <p:nvSpPr>
          <p:cNvPr id="2" name="Shape 0"/>
          <p:cNvSpPr/>
          <p:nvPr/>
        </p:nvSpPr>
        <p:spPr>
          <a:xfrm>
            <a:off x="9784080" y="640080"/>
            <a:ext cx="1371600" cy="1371600"/>
          </a:xfrm>
          <a:prstGeom prst="ellipse">
            <a:avLst/>
          </a:prstGeom>
          <a:solidFill>
            <a:srgbClr val="D9782D">
              <a:alpha val="90000"/>
            </a:srgbClr>
          </a:solidFill>
          <a:ln/>
        </p:spPr>
        <p:txBody>
          <a:bodyPr/>
          <a:lstStyle/>
          <a:p>
            <a:endParaRPr lang="zh-CN" altLang="en-US"/>
          </a:p>
        </p:txBody>
      </p:sp>
      <p:sp>
        <p:nvSpPr>
          <p:cNvPr id="3" name="Shape 1"/>
          <p:cNvSpPr/>
          <p:nvPr/>
        </p:nvSpPr>
        <p:spPr>
          <a:xfrm>
            <a:off x="10515600" y="1737360"/>
            <a:ext cx="960120" cy="960120"/>
          </a:xfrm>
          <a:prstGeom prst="ellipse">
            <a:avLst/>
          </a:prstGeom>
          <a:solidFill>
            <a:srgbClr val="D9782D">
              <a:alpha val="55000"/>
            </a:srgbClr>
          </a:solidFill>
          <a:ln/>
        </p:spPr>
        <p:txBody>
          <a:bodyPr/>
          <a:lstStyle/>
          <a:p>
            <a:endParaRPr lang="zh-CN" altLang="en-US"/>
          </a:p>
        </p:txBody>
      </p:sp>
      <p:sp>
        <p:nvSpPr>
          <p:cNvPr id="4" name="Shape 2"/>
          <p:cNvSpPr/>
          <p:nvPr/>
        </p:nvSpPr>
        <p:spPr>
          <a:xfrm>
            <a:off x="11109960" y="2606040"/>
            <a:ext cx="640080" cy="640080"/>
          </a:xfrm>
          <a:prstGeom prst="ellipse">
            <a:avLst/>
          </a:prstGeom>
          <a:solidFill>
            <a:srgbClr val="D9782D">
              <a:alpha val="30000"/>
            </a:srgbClr>
          </a:solidFill>
          <a:ln/>
        </p:spPr>
        <p:txBody>
          <a:bodyPr/>
          <a:lstStyle/>
          <a:p>
            <a:endParaRPr lang="zh-CN" altLang="en-US"/>
          </a:p>
        </p:txBody>
      </p:sp>
      <p:sp>
        <p:nvSpPr>
          <p:cNvPr id="5" name="Text 3"/>
          <p:cNvSpPr/>
          <p:nvPr/>
        </p:nvSpPr>
        <p:spPr>
          <a:xfrm>
            <a:off x="640080" y="1417320"/>
            <a:ext cx="7315200" cy="365760"/>
          </a:xfrm>
          <a:prstGeom prst="rect">
            <a:avLst/>
          </a:prstGeom>
          <a:noFill/>
          <a:ln/>
        </p:spPr>
        <p:txBody>
          <a:bodyPr wrap="square" rtlCol="0" anchor="ctr"/>
          <a:lstStyle/>
          <a:p>
            <a:pPr marL="0" indent="0">
              <a:buNone/>
            </a:pPr>
            <a:endParaRPr lang="en-US" sz="1400" dirty="0"/>
          </a:p>
        </p:txBody>
      </p:sp>
      <p:sp>
        <p:nvSpPr>
          <p:cNvPr id="6" name="Text 4"/>
          <p:cNvSpPr/>
          <p:nvPr/>
        </p:nvSpPr>
        <p:spPr>
          <a:xfrm>
            <a:off x="548640" y="1188720"/>
            <a:ext cx="89611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Waiting for a Repair</a:t>
            </a:r>
            <a:endParaRPr lang="en-US" sz="4400" dirty="0"/>
          </a:p>
        </p:txBody>
      </p:sp>
      <p:sp>
        <p:nvSpPr>
          <p:cNvPr id="7" name="Text 5"/>
          <p:cNvSpPr/>
          <p:nvPr/>
        </p:nvSpPr>
        <p:spPr>
          <a:xfrm>
            <a:off x="640080" y="2164580"/>
            <a:ext cx="8229600" cy="502920"/>
          </a:xfrm>
          <a:prstGeom prst="rect">
            <a:avLst/>
          </a:prstGeom>
          <a:noFill/>
          <a:ln/>
        </p:spPr>
        <p:txBody>
          <a:bodyPr wrap="square" rtlCol="0" anchor="ctr"/>
          <a:lstStyle/>
          <a:p>
            <a:pPr marL="0" indent="0">
              <a:buNone/>
            </a:pPr>
            <a:r>
              <a:rPr lang="en-US" sz="2000" dirty="0">
                <a:solidFill>
                  <a:srgbClr val="CFE0E8"/>
                </a:solidFill>
                <a:latin typeface="Calibri" pitchFamily="34" charset="0"/>
                <a:ea typeface="Calibri" pitchFamily="34" charset="-122"/>
                <a:cs typeface="Calibri" pitchFamily="34" charset="-120"/>
              </a:rPr>
              <a:t>Shared facilities in Sydney apartment housing</a:t>
            </a:r>
            <a:endParaRPr lang="en-US" sz="2000" dirty="0"/>
          </a:p>
        </p:txBody>
      </p:sp>
      <p:sp>
        <p:nvSpPr>
          <p:cNvPr id="9" name="Text 7"/>
          <p:cNvSpPr/>
          <p:nvPr/>
        </p:nvSpPr>
        <p:spPr>
          <a:xfrm>
            <a:off x="640080" y="3169670"/>
            <a:ext cx="7315200" cy="777240"/>
          </a:xfrm>
          <a:prstGeom prst="rect">
            <a:avLst/>
          </a:prstGeom>
          <a:noFill/>
          <a:ln/>
        </p:spPr>
        <p:txBody>
          <a:bodyPr wrap="square" rtlCol="0" anchor="ctr"/>
          <a:lstStyle/>
          <a:p>
            <a:pPr marL="0" indent="0">
              <a:buNone/>
            </a:pPr>
            <a:r>
              <a:rPr lang="en-US" sz="3600" i="1" dirty="0">
                <a:solidFill>
                  <a:srgbClr val="D9782D"/>
                </a:solidFill>
                <a:latin typeface="Cambria" pitchFamily="34" charset="0"/>
                <a:ea typeface="Cambria" pitchFamily="34" charset="-122"/>
                <a:cs typeface="Cambria" pitchFamily="34" charset="-120"/>
              </a:rPr>
              <a:t>“</a:t>
            </a:r>
            <a:r>
              <a:rPr lang="en-US" sz="2400" i="1" dirty="0">
                <a:solidFill>
                  <a:srgbClr val="FFFFFF"/>
                </a:solidFill>
                <a:latin typeface="Cambria" pitchFamily="34" charset="0"/>
                <a:ea typeface="Cambria" pitchFamily="34" charset="-122"/>
                <a:cs typeface="Cambria" pitchFamily="34" charset="-120"/>
              </a:rPr>
              <a:t>How might we reduce the disruption that uncertain</a:t>
            </a:r>
            <a:r>
              <a:rPr lang="zh-CN" altLang="en-US" sz="2400" i="1" dirty="0">
                <a:solidFill>
                  <a:srgbClr val="FFFFFF"/>
                </a:solidFill>
                <a:latin typeface="Cambria" pitchFamily="34" charset="0"/>
                <a:ea typeface="Cambria" pitchFamily="34" charset="-122"/>
                <a:cs typeface="Cambria" pitchFamily="34" charset="-120"/>
              </a:rPr>
              <a:t> </a:t>
            </a:r>
            <a:r>
              <a:rPr lang="en-US" sz="2400" i="1" dirty="0">
                <a:solidFill>
                  <a:srgbClr val="FFFFFF"/>
                </a:solidFill>
                <a:latin typeface="Cambria" pitchFamily="34" charset="0"/>
                <a:ea typeface="Cambria" pitchFamily="34" charset="-122"/>
                <a:cs typeface="Cambria" pitchFamily="34" charset="-120"/>
              </a:rPr>
              <a:t>waits cause to people’s daily lives?</a:t>
            </a:r>
            <a:endParaRPr lang="en-US" sz="3600" dirty="0"/>
          </a:p>
        </p:txBody>
      </p:sp>
      <p:sp>
        <p:nvSpPr>
          <p:cNvPr id="10" name="Text 8"/>
          <p:cNvSpPr/>
          <p:nvPr/>
        </p:nvSpPr>
        <p:spPr>
          <a:xfrm>
            <a:off x="640080" y="5806440"/>
            <a:ext cx="7315200" cy="320040"/>
          </a:xfrm>
          <a:prstGeom prst="rect">
            <a:avLst/>
          </a:prstGeom>
          <a:noFill/>
          <a:ln/>
        </p:spPr>
        <p:txBody>
          <a:bodyPr wrap="square" rtlCol="0" anchor="ctr"/>
          <a:lstStyle/>
          <a:p>
            <a:pPr marL="0" indent="0">
              <a:buNone/>
            </a:pPr>
            <a:r>
              <a:rPr lang="en-US" sz="1300" b="1" dirty="0">
                <a:solidFill>
                  <a:srgbClr val="CFE0E8"/>
                </a:solidFill>
                <a:latin typeface="Calibri" pitchFamily="34" charset="0"/>
                <a:ea typeface="Calibri" pitchFamily="34" charset="-122"/>
                <a:cs typeface="Calibri" pitchFamily="34" charset="-120"/>
              </a:rPr>
              <a:t>RhodesReg  —  Wenxi Ma  ·  Ruifen Zheng  ·  Anda Hao  ·  Zeyu Li</a:t>
            </a:r>
            <a:endParaRPr lang="en-US" sz="1300" dirty="0"/>
          </a:p>
        </p:txBody>
      </p:sp>
      <p:sp>
        <p:nvSpPr>
          <p:cNvPr id="11" name="Text 9"/>
          <p:cNvSpPr/>
          <p:nvPr/>
        </p:nvSpPr>
        <p:spPr>
          <a:xfrm>
            <a:off x="640080" y="6108192"/>
            <a:ext cx="7315200" cy="274320"/>
          </a:xfrm>
          <a:prstGeom prst="rect">
            <a:avLst/>
          </a:prstGeom>
          <a:noFill/>
          <a:ln/>
        </p:spPr>
        <p:txBody>
          <a:bodyPr wrap="square" rtlCol="0" anchor="ctr"/>
          <a:lstStyle/>
          <a:p>
            <a:pPr marL="0" indent="0">
              <a:buNone/>
            </a:pPr>
            <a:r>
              <a:rPr lang="en-US" sz="1100" dirty="0">
                <a:solidFill>
                  <a:srgbClr val="8894A8"/>
                </a:solidFill>
                <a:latin typeface="Calibri" pitchFamily="34" charset="0"/>
                <a:ea typeface="Calibri" pitchFamily="34" charset="-122"/>
                <a:cs typeface="Calibri" pitchFamily="34" charset="-120"/>
              </a:rPr>
              <a:t>IDEA9106 Design Thinking  |  A2b Progress Presentation  |  Tutorial 23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02920"/>
          </a:xfrm>
          <a:prstGeom prst="rect">
            <a:avLst/>
          </a:prstGeom>
          <a:noFill/>
          <a:ln/>
        </p:spPr>
        <p:txBody>
          <a:bodyPr wrap="square" rtlCol="0" anchor="ctr"/>
          <a:lstStyle/>
          <a:p>
            <a:pPr marL="0" indent="0">
              <a:buNone/>
            </a:pPr>
            <a:r>
              <a:rPr lang="en-US" sz="2800" b="1" dirty="0">
                <a:solidFill>
                  <a:srgbClr val="1C2541"/>
                </a:solidFill>
                <a:latin typeface="Cambria" pitchFamily="34" charset="0"/>
                <a:ea typeface="Cambria" pitchFamily="34" charset="-122"/>
                <a:cs typeface="Cambria" pitchFamily="34" charset="-120"/>
              </a:rPr>
              <a:t>Introduction</a:t>
            </a:r>
            <a:endParaRPr lang="en-US" sz="2800" dirty="0"/>
          </a:p>
        </p:txBody>
      </p:sp>
      <p:sp>
        <p:nvSpPr>
          <p:cNvPr id="3" name="Text 1"/>
          <p:cNvSpPr/>
          <p:nvPr/>
        </p:nvSpPr>
        <p:spPr>
          <a:xfrm>
            <a:off x="640080" y="932688"/>
            <a:ext cx="7315200" cy="320040"/>
          </a:xfrm>
          <a:prstGeom prst="rect">
            <a:avLst/>
          </a:prstGeom>
          <a:noFill/>
          <a:ln/>
        </p:spPr>
        <p:txBody>
          <a:bodyPr wrap="square" rtlCol="0" anchor="ctr"/>
          <a:lstStyle/>
          <a:p>
            <a:pPr marL="0" indent="0">
              <a:buNone/>
            </a:pPr>
            <a:endParaRPr lang="en-US" sz="1300" dirty="0"/>
          </a:p>
        </p:txBody>
      </p:sp>
      <p:sp>
        <p:nvSpPr>
          <p:cNvPr id="5" name="Text 3"/>
          <p:cNvSpPr/>
          <p:nvPr/>
        </p:nvSpPr>
        <p:spPr>
          <a:xfrm>
            <a:off x="868680" y="1536192"/>
            <a:ext cx="6035040" cy="292608"/>
          </a:xfrm>
          <a:prstGeom prst="rect">
            <a:avLst/>
          </a:prstGeom>
          <a:noFill/>
          <a:ln/>
        </p:spPr>
        <p:txBody>
          <a:bodyPr wrap="square" rtlCol="0" anchor="ctr"/>
          <a:lstStyle/>
          <a:p>
            <a:pPr marL="0" indent="0">
              <a:buNone/>
            </a:pPr>
            <a:r>
              <a:rPr lang="en-US" b="1" dirty="0">
                <a:solidFill>
                  <a:srgbClr val="1C2541"/>
                </a:solidFill>
                <a:latin typeface="Calibri" pitchFamily="34" charset="0"/>
                <a:ea typeface="Calibri" pitchFamily="34" charset="-122"/>
                <a:cs typeface="Calibri" pitchFamily="34" charset="-120"/>
              </a:rPr>
              <a:t>Problem area</a:t>
            </a:r>
            <a:endParaRPr lang="en-US" dirty="0"/>
          </a:p>
        </p:txBody>
      </p:sp>
      <p:sp>
        <p:nvSpPr>
          <p:cNvPr id="6" name="Text 4"/>
          <p:cNvSpPr/>
          <p:nvPr/>
        </p:nvSpPr>
        <p:spPr>
          <a:xfrm>
            <a:off x="868680" y="1810512"/>
            <a:ext cx="6126480" cy="1115568"/>
          </a:xfrm>
          <a:prstGeom prst="rect">
            <a:avLst/>
          </a:prstGeom>
          <a:noFill/>
          <a:ln/>
        </p:spPr>
        <p:txBody>
          <a:bodyPr wrap="square" rtlCol="0" anchor="ctr"/>
          <a:lstStyle/>
          <a:p>
            <a:pPr marL="0" indent="0">
              <a:lnSpc>
                <a:spcPct val="115000"/>
              </a:lnSpc>
              <a:buNone/>
            </a:pPr>
            <a:r>
              <a:rPr lang="en-US" sz="1600" dirty="0">
                <a:solidFill>
                  <a:srgbClr val="222831"/>
                </a:solidFill>
                <a:latin typeface="Calibri" pitchFamily="34" charset="0"/>
                <a:ea typeface="Calibri" pitchFamily="34" charset="-122"/>
                <a:cs typeface="Calibri" pitchFamily="34" charset="-120"/>
              </a:rPr>
              <a:t>When a shared facility in an apartment building fails, a lift, hot water, a door, residents can report it, but almost never learn what happens next.</a:t>
            </a:r>
            <a:endParaRPr lang="en-US" sz="1600" dirty="0"/>
          </a:p>
        </p:txBody>
      </p:sp>
      <p:sp>
        <p:nvSpPr>
          <p:cNvPr id="8" name="Text 6"/>
          <p:cNvSpPr/>
          <p:nvPr/>
        </p:nvSpPr>
        <p:spPr>
          <a:xfrm>
            <a:off x="868680" y="3176436"/>
            <a:ext cx="6035040" cy="292608"/>
          </a:xfrm>
          <a:prstGeom prst="rect">
            <a:avLst/>
          </a:prstGeom>
          <a:noFill/>
          <a:ln/>
        </p:spPr>
        <p:txBody>
          <a:bodyPr wrap="square" rtlCol="0" anchor="ctr"/>
          <a:lstStyle/>
          <a:p>
            <a:pPr marL="0" indent="0">
              <a:buNone/>
            </a:pPr>
            <a:r>
              <a:rPr lang="en-US" b="1" dirty="0">
                <a:solidFill>
                  <a:srgbClr val="1C2541"/>
                </a:solidFill>
                <a:latin typeface="Calibri" pitchFamily="34" charset="0"/>
                <a:cs typeface="Calibri" pitchFamily="34" charset="-120"/>
              </a:rPr>
              <a:t>Target users</a:t>
            </a:r>
            <a:endParaRPr lang="en-US" dirty="0"/>
          </a:p>
        </p:txBody>
      </p:sp>
      <p:sp>
        <p:nvSpPr>
          <p:cNvPr id="9" name="Text 7"/>
          <p:cNvSpPr/>
          <p:nvPr/>
        </p:nvSpPr>
        <p:spPr>
          <a:xfrm>
            <a:off x="868680" y="3589020"/>
            <a:ext cx="5227320" cy="924648"/>
          </a:xfrm>
          <a:prstGeom prst="rect">
            <a:avLst/>
          </a:prstGeom>
          <a:noFill/>
          <a:ln/>
        </p:spPr>
        <p:txBody>
          <a:bodyPr wrap="square" rtlCol="0" anchor="ctr"/>
          <a:lstStyle/>
          <a:p>
            <a:pPr marL="0" indent="0">
              <a:lnSpc>
                <a:spcPct val="115000"/>
              </a:lnSpc>
              <a:buNone/>
            </a:pPr>
            <a:r>
              <a:rPr lang="en-US" sz="1600" dirty="0">
                <a:solidFill>
                  <a:srgbClr val="222831"/>
                </a:solidFill>
                <a:latin typeface="Calibri" pitchFamily="34" charset="0"/>
                <a:ea typeface="Calibri" pitchFamily="34" charset="-122"/>
                <a:cs typeface="Calibri" pitchFamily="34" charset="-120"/>
              </a:rPr>
              <a:t>Student accommodation, social housing, and especially r</a:t>
            </a:r>
            <a:r>
              <a:rPr lang="en-US" sz="1600" b="1" dirty="0">
                <a:solidFill>
                  <a:srgbClr val="222831"/>
                </a:solidFill>
                <a:latin typeface="Calibri" pitchFamily="34" charset="0"/>
                <a:ea typeface="Calibri" pitchFamily="34" charset="-122"/>
                <a:cs typeface="Calibri" pitchFamily="34" charset="-120"/>
              </a:rPr>
              <a:t>esidents with access needs </a:t>
            </a:r>
            <a:r>
              <a:rPr lang="en-US" sz="1600" dirty="0">
                <a:solidFill>
                  <a:srgbClr val="222831"/>
                </a:solidFill>
                <a:latin typeface="Calibri" pitchFamily="34" charset="0"/>
                <a:ea typeface="Calibri" pitchFamily="34" charset="-122"/>
                <a:cs typeface="Calibri" pitchFamily="34" charset="-120"/>
              </a:rPr>
              <a:t>in Sydney apartment buildings. The law requires repairs but sets no timeframe (SSMA 2015 (NSW) s106; RTA 2010 (NSW) s63).</a:t>
            </a:r>
            <a:endParaRPr lang="en-US" sz="1600" dirty="0"/>
          </a:p>
        </p:txBody>
      </p:sp>
      <p:sp>
        <p:nvSpPr>
          <p:cNvPr id="11" name="Text 9"/>
          <p:cNvSpPr/>
          <p:nvPr/>
        </p:nvSpPr>
        <p:spPr>
          <a:xfrm>
            <a:off x="893522" y="5111496"/>
            <a:ext cx="6035040" cy="292608"/>
          </a:xfrm>
          <a:prstGeom prst="rect">
            <a:avLst/>
          </a:prstGeom>
          <a:noFill/>
          <a:ln/>
        </p:spPr>
        <p:txBody>
          <a:bodyPr wrap="square" rtlCol="0" anchor="ctr"/>
          <a:lstStyle/>
          <a:p>
            <a:pPr marL="0" indent="0">
              <a:buNone/>
            </a:pPr>
            <a:r>
              <a:rPr lang="en-US" b="1" dirty="0">
                <a:solidFill>
                  <a:srgbClr val="1C2541"/>
                </a:solidFill>
                <a:latin typeface="Calibri" pitchFamily="34" charset="0"/>
                <a:ea typeface="Calibri" pitchFamily="34" charset="-122"/>
                <a:cs typeface="Calibri" pitchFamily="34" charset="-120"/>
              </a:rPr>
              <a:t>Why this</a:t>
            </a:r>
            <a:endParaRPr lang="en-US" dirty="0"/>
          </a:p>
        </p:txBody>
      </p:sp>
      <p:sp>
        <p:nvSpPr>
          <p:cNvPr id="12" name="Text 10"/>
          <p:cNvSpPr/>
          <p:nvPr/>
        </p:nvSpPr>
        <p:spPr>
          <a:xfrm>
            <a:off x="893522" y="5404104"/>
            <a:ext cx="5062728" cy="548640"/>
          </a:xfrm>
          <a:prstGeom prst="rect">
            <a:avLst/>
          </a:prstGeom>
          <a:noFill/>
          <a:ln/>
        </p:spPr>
        <p:txBody>
          <a:bodyPr wrap="square" rtlCol="0" anchor="ctr"/>
          <a:lstStyle/>
          <a:p>
            <a:pPr marL="0" indent="0">
              <a:lnSpc>
                <a:spcPct val="115000"/>
              </a:lnSpc>
              <a:buNone/>
            </a:pPr>
            <a:r>
              <a:rPr lang="en-US" sz="1600" dirty="0">
                <a:solidFill>
                  <a:srgbClr val="222831"/>
                </a:solidFill>
                <a:latin typeface="Calibri" pitchFamily="34" charset="0"/>
                <a:ea typeface="Calibri" pitchFamily="34" charset="-122"/>
                <a:cs typeface="Calibri" pitchFamily="34" charset="-120"/>
              </a:rPr>
              <a:t>What differs between a fast fix and a slow one usually isn’t resources — it’s who can ask, and be answered.</a:t>
            </a:r>
            <a:endParaRPr lang="en-US" sz="1600" dirty="0"/>
          </a:p>
        </p:txBody>
      </p:sp>
      <p:sp>
        <p:nvSpPr>
          <p:cNvPr id="14" name="Text 12"/>
          <p:cNvSpPr/>
          <p:nvPr/>
        </p:nvSpPr>
        <p:spPr>
          <a:xfrm>
            <a:off x="7635240" y="1810512"/>
            <a:ext cx="3657600" cy="274320"/>
          </a:xfrm>
          <a:prstGeom prst="rect">
            <a:avLst/>
          </a:prstGeom>
          <a:noFill/>
          <a:ln/>
        </p:spPr>
        <p:txBody>
          <a:bodyPr wrap="square" rtlCol="0" anchor="ctr"/>
          <a:lstStyle/>
          <a:p>
            <a:pPr marL="0" indent="0">
              <a:buNone/>
            </a:pPr>
            <a:endParaRPr lang="en-US" sz="1050" dirty="0"/>
          </a:p>
        </p:txBody>
      </p:sp>
      <p:sp>
        <p:nvSpPr>
          <p:cNvPr id="15" name="Text 13"/>
          <p:cNvSpPr/>
          <p:nvPr/>
        </p:nvSpPr>
        <p:spPr>
          <a:xfrm>
            <a:off x="7635240" y="2148840"/>
            <a:ext cx="3657600" cy="777240"/>
          </a:xfrm>
          <a:prstGeom prst="rect">
            <a:avLst/>
          </a:prstGeom>
          <a:noFill/>
          <a:ln/>
        </p:spPr>
        <p:txBody>
          <a:bodyPr wrap="square" rtlCol="0" anchor="ctr"/>
          <a:lstStyle/>
          <a:p>
            <a:pPr marL="0" indent="0">
              <a:buNone/>
            </a:pPr>
            <a:endParaRPr lang="en-US" sz="3200" dirty="0"/>
          </a:p>
        </p:txBody>
      </p:sp>
      <p:sp>
        <p:nvSpPr>
          <p:cNvPr id="16" name="Text 14"/>
          <p:cNvSpPr/>
          <p:nvPr/>
        </p:nvSpPr>
        <p:spPr>
          <a:xfrm>
            <a:off x="7635240" y="2907792"/>
            <a:ext cx="3566160" cy="594360"/>
          </a:xfrm>
          <a:prstGeom prst="rect">
            <a:avLst/>
          </a:prstGeom>
          <a:noFill/>
          <a:ln/>
        </p:spPr>
        <p:txBody>
          <a:bodyPr wrap="square" rtlCol="0" anchor="ctr"/>
          <a:lstStyle/>
          <a:p>
            <a:pPr marL="0" indent="0">
              <a:buNone/>
            </a:pPr>
            <a:endParaRPr lang="en-US" sz="1150" dirty="0"/>
          </a:p>
        </p:txBody>
      </p:sp>
      <p:sp>
        <p:nvSpPr>
          <p:cNvPr id="18" name="Text 16"/>
          <p:cNvSpPr/>
          <p:nvPr/>
        </p:nvSpPr>
        <p:spPr>
          <a:xfrm>
            <a:off x="7635240" y="3749040"/>
            <a:ext cx="3657600" cy="640080"/>
          </a:xfrm>
          <a:prstGeom prst="rect">
            <a:avLst/>
          </a:prstGeom>
          <a:noFill/>
          <a:ln/>
        </p:spPr>
        <p:txBody>
          <a:bodyPr wrap="square" rtlCol="0" anchor="ctr"/>
          <a:lstStyle/>
          <a:p>
            <a:pPr marL="0" indent="0">
              <a:buNone/>
            </a:pPr>
            <a:endParaRPr lang="en-US" sz="3400" dirty="0"/>
          </a:p>
        </p:txBody>
      </p:sp>
      <p:sp>
        <p:nvSpPr>
          <p:cNvPr id="19" name="Text 17"/>
          <p:cNvSpPr/>
          <p:nvPr/>
        </p:nvSpPr>
        <p:spPr>
          <a:xfrm>
            <a:off x="7635240" y="4315968"/>
            <a:ext cx="3566160" cy="594360"/>
          </a:xfrm>
          <a:prstGeom prst="rect">
            <a:avLst/>
          </a:prstGeom>
          <a:noFill/>
          <a:ln/>
        </p:spPr>
        <p:txBody>
          <a:bodyPr wrap="square" rtlCol="0" anchor="ctr"/>
          <a:lstStyle/>
          <a:p>
            <a:pPr marL="0" indent="0">
              <a:buNone/>
            </a:pPr>
            <a:endParaRPr lang="en-US" sz="1150" dirty="0"/>
          </a:p>
        </p:txBody>
      </p:sp>
      <p:sp>
        <p:nvSpPr>
          <p:cNvPr id="20" name="Text 18"/>
          <p:cNvSpPr/>
          <p:nvPr/>
        </p:nvSpPr>
        <p:spPr>
          <a:xfrm>
            <a:off x="7635240" y="5257800"/>
            <a:ext cx="3566160" cy="274320"/>
          </a:xfrm>
          <a:prstGeom prst="rect">
            <a:avLst/>
          </a:prstGeom>
          <a:noFill/>
          <a:ln/>
        </p:spPr>
        <p:txBody>
          <a:bodyPr wrap="square" rtlCol="0" anchor="ctr"/>
          <a:lstStyle/>
          <a:p>
            <a:pPr marL="0" indent="0">
              <a:buNone/>
            </a:pPr>
            <a:endParaRPr lang="en-US" sz="950" dirty="0"/>
          </a:p>
        </p:txBody>
      </p:sp>
      <p:sp>
        <p:nvSpPr>
          <p:cNvPr id="21" name="Text 19"/>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22" name="Text 2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2</a:t>
            </a:r>
            <a:endParaRPr lang="en-US" sz="900" dirty="0"/>
          </a:p>
        </p:txBody>
      </p:sp>
      <p:pic>
        <p:nvPicPr>
          <p:cNvPr id="25" name="图片 24">
            <a:extLst>
              <a:ext uri="{FF2B5EF4-FFF2-40B4-BE49-F238E27FC236}">
                <a16:creationId xmlns:a16="http://schemas.microsoft.com/office/drawing/2014/main" id="{E85CEECE-7E18-3C72-83DD-06163809E9F3}"/>
              </a:ext>
            </a:extLst>
          </p:cNvPr>
          <p:cNvPicPr>
            <a:picLocks noChangeAspect="1"/>
          </p:cNvPicPr>
          <p:nvPr/>
        </p:nvPicPr>
        <p:blipFill>
          <a:blip r:embed="rId3"/>
          <a:stretch>
            <a:fillRect/>
          </a:stretch>
        </p:blipFill>
        <p:spPr>
          <a:xfrm>
            <a:off x="7726680" y="505245"/>
            <a:ext cx="3474720" cy="3095897"/>
          </a:xfrm>
          <a:prstGeom prst="rect">
            <a:avLst/>
          </a:prstGeom>
        </p:spPr>
      </p:pic>
      <p:pic>
        <p:nvPicPr>
          <p:cNvPr id="26" name="图片 25">
            <a:extLst>
              <a:ext uri="{FF2B5EF4-FFF2-40B4-BE49-F238E27FC236}">
                <a16:creationId xmlns:a16="http://schemas.microsoft.com/office/drawing/2014/main" id="{3A93AF21-B0CD-EBF2-2A11-C82258090745}"/>
              </a:ext>
            </a:extLst>
          </p:cNvPr>
          <p:cNvPicPr>
            <a:picLocks noChangeAspect="1"/>
          </p:cNvPicPr>
          <p:nvPr/>
        </p:nvPicPr>
        <p:blipFill>
          <a:blip r:embed="rId4"/>
          <a:stretch>
            <a:fillRect/>
          </a:stretch>
        </p:blipFill>
        <p:spPr>
          <a:xfrm>
            <a:off x="6065168" y="4087369"/>
            <a:ext cx="5965454" cy="2275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02920"/>
          </a:xfrm>
          <a:prstGeom prst="rect">
            <a:avLst/>
          </a:prstGeom>
          <a:noFill/>
          <a:ln/>
        </p:spPr>
        <p:txBody>
          <a:bodyPr wrap="square" rtlCol="0" anchor="ctr"/>
          <a:lstStyle/>
          <a:p>
            <a:pPr marL="0" indent="0">
              <a:buNone/>
            </a:pPr>
            <a:r>
              <a:rPr lang="en-US" sz="2800" b="1" dirty="0">
                <a:solidFill>
                  <a:srgbClr val="1C2541"/>
                </a:solidFill>
                <a:latin typeface="Cambria" pitchFamily="34" charset="0"/>
                <a:ea typeface="Cambria" pitchFamily="34" charset="-122"/>
                <a:cs typeface="Cambria" pitchFamily="34" charset="-120"/>
              </a:rPr>
              <a:t>Research Process</a:t>
            </a:r>
            <a:endParaRPr lang="en-US" sz="2800" dirty="0"/>
          </a:p>
        </p:txBody>
      </p:sp>
      <p:sp>
        <p:nvSpPr>
          <p:cNvPr id="3" name="Text 1"/>
          <p:cNvSpPr/>
          <p:nvPr/>
        </p:nvSpPr>
        <p:spPr>
          <a:xfrm>
            <a:off x="640080" y="932688"/>
            <a:ext cx="7315200" cy="32004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How we collected the data behind this presentation</a:t>
            </a:r>
            <a:endParaRPr lang="en-US" sz="1300" dirty="0"/>
          </a:p>
        </p:txBody>
      </p:sp>
      <p:sp>
        <p:nvSpPr>
          <p:cNvPr id="4" name="Shape 2"/>
          <p:cNvSpPr/>
          <p:nvPr/>
        </p:nvSpPr>
        <p:spPr>
          <a:xfrm>
            <a:off x="640080" y="1600200"/>
            <a:ext cx="566928" cy="566928"/>
          </a:xfrm>
          <a:prstGeom prst="ellipse">
            <a:avLst/>
          </a:prstGeom>
          <a:solidFill>
            <a:srgbClr val="1C2541"/>
          </a:solidFill>
          <a:ln/>
        </p:spPr>
        <p:txBody>
          <a:bodyPr/>
          <a:lstStyle/>
          <a:p>
            <a:endParaRPr lang="zh-CN" altLang="en-US"/>
          </a:p>
        </p:txBody>
      </p:sp>
      <p:pic>
        <p:nvPicPr>
          <p:cNvPr id="5" name="Image 0" descr="/Users/devonma/Desktop/9106/Assignment/A2b/build/icons/mic.png"/>
          <p:cNvPicPr>
            <a:picLocks noChangeAspect="1"/>
          </p:cNvPicPr>
          <p:nvPr/>
        </p:nvPicPr>
        <p:blipFill>
          <a:blip r:embed="rId3"/>
          <a:stretch>
            <a:fillRect/>
          </a:stretch>
        </p:blipFill>
        <p:spPr>
          <a:xfrm>
            <a:off x="787481" y="1747601"/>
            <a:ext cx="272125" cy="272125"/>
          </a:xfrm>
          <a:prstGeom prst="rect">
            <a:avLst/>
          </a:prstGeom>
        </p:spPr>
      </p:pic>
      <p:sp>
        <p:nvSpPr>
          <p:cNvPr id="6" name="Text 3"/>
          <p:cNvSpPr/>
          <p:nvPr/>
        </p:nvSpPr>
        <p:spPr>
          <a:xfrm>
            <a:off x="1417320" y="1572768"/>
            <a:ext cx="9692640" cy="292608"/>
          </a:xfrm>
          <a:prstGeom prst="rect">
            <a:avLst/>
          </a:prstGeom>
          <a:noFill/>
          <a:ln/>
        </p:spPr>
        <p:txBody>
          <a:bodyPr wrap="square" rtlCol="0" anchor="ctr"/>
          <a:lstStyle/>
          <a:p>
            <a:pPr marL="0" indent="0">
              <a:buNone/>
            </a:pPr>
            <a:r>
              <a:rPr lang="en-US" sz="1450" b="1" dirty="0">
                <a:solidFill>
                  <a:srgbClr val="1C2541"/>
                </a:solidFill>
                <a:latin typeface="Calibri" pitchFamily="34" charset="0"/>
                <a:ea typeface="Calibri" pitchFamily="34" charset="-122"/>
                <a:cs typeface="Calibri" pitchFamily="34" charset="-120"/>
              </a:rPr>
              <a:t>~12 semi-structured interviews</a:t>
            </a:r>
            <a:endParaRPr lang="en-US" sz="1450" dirty="0"/>
          </a:p>
        </p:txBody>
      </p:sp>
      <p:sp>
        <p:nvSpPr>
          <p:cNvPr id="7" name="Text 4"/>
          <p:cNvSpPr/>
          <p:nvPr/>
        </p:nvSpPr>
        <p:spPr>
          <a:xfrm>
            <a:off x="1417320" y="1874520"/>
            <a:ext cx="9875520" cy="502920"/>
          </a:xfrm>
          <a:prstGeom prst="rect">
            <a:avLst/>
          </a:prstGeom>
          <a:noFill/>
          <a:ln/>
        </p:spPr>
        <p:txBody>
          <a:bodyPr wrap="square" rtlCol="0" anchor="ctr"/>
          <a:lstStyle/>
          <a:p>
            <a:pPr marL="0" indent="0">
              <a:lnSpc>
                <a:spcPct val="110000"/>
              </a:lnSpc>
              <a:buNone/>
            </a:pPr>
            <a:r>
              <a:rPr lang="en-US" sz="1200" dirty="0">
                <a:solidFill>
                  <a:srgbClr val="222831"/>
                </a:solidFill>
                <a:latin typeface="Calibri" pitchFamily="34" charset="0"/>
                <a:ea typeface="Calibri" pitchFamily="34" charset="-122"/>
                <a:cs typeface="Calibri" pitchFamily="34" charset="-120"/>
              </a:rPr>
              <a:t>Across the 4 team members, each following the same protocol: last failure → who was told → what they were told about duration → what they did while it was broken → how they judged whether the wait was reasonable.</a:t>
            </a:r>
            <a:endParaRPr lang="en-US" sz="1200" dirty="0"/>
          </a:p>
        </p:txBody>
      </p:sp>
      <p:sp>
        <p:nvSpPr>
          <p:cNvPr id="8" name="Shape 5"/>
          <p:cNvSpPr/>
          <p:nvPr/>
        </p:nvSpPr>
        <p:spPr>
          <a:xfrm>
            <a:off x="640080" y="2770632"/>
            <a:ext cx="566928" cy="566928"/>
          </a:xfrm>
          <a:prstGeom prst="ellipse">
            <a:avLst/>
          </a:prstGeom>
          <a:solidFill>
            <a:srgbClr val="1C2541"/>
          </a:solidFill>
          <a:ln/>
        </p:spPr>
        <p:txBody>
          <a:bodyPr/>
          <a:lstStyle/>
          <a:p>
            <a:endParaRPr lang="zh-CN" altLang="en-US"/>
          </a:p>
        </p:txBody>
      </p:sp>
      <p:pic>
        <p:nvPicPr>
          <p:cNvPr id="9" name="Image 1" descr="/Users/devonma/Desktop/9106/Assignment/A2b/build/icons/users.png"/>
          <p:cNvPicPr>
            <a:picLocks noChangeAspect="1"/>
          </p:cNvPicPr>
          <p:nvPr/>
        </p:nvPicPr>
        <p:blipFill>
          <a:blip r:embed="rId4"/>
          <a:stretch>
            <a:fillRect/>
          </a:stretch>
        </p:blipFill>
        <p:spPr>
          <a:xfrm>
            <a:off x="787481" y="2918033"/>
            <a:ext cx="272125" cy="272125"/>
          </a:xfrm>
          <a:prstGeom prst="rect">
            <a:avLst/>
          </a:prstGeom>
        </p:spPr>
      </p:pic>
      <p:sp>
        <p:nvSpPr>
          <p:cNvPr id="10" name="Text 6"/>
          <p:cNvSpPr/>
          <p:nvPr/>
        </p:nvSpPr>
        <p:spPr>
          <a:xfrm>
            <a:off x="1417320" y="2743200"/>
            <a:ext cx="9692640" cy="292608"/>
          </a:xfrm>
          <a:prstGeom prst="rect">
            <a:avLst/>
          </a:prstGeom>
          <a:noFill/>
          <a:ln/>
        </p:spPr>
        <p:txBody>
          <a:bodyPr wrap="square" rtlCol="0" anchor="ctr"/>
          <a:lstStyle/>
          <a:p>
            <a:pPr marL="0" indent="0">
              <a:buNone/>
            </a:pPr>
            <a:r>
              <a:rPr lang="en-US" sz="1450" b="1" dirty="0">
                <a:solidFill>
                  <a:srgbClr val="1C2541"/>
                </a:solidFill>
                <a:latin typeface="Calibri" pitchFamily="34" charset="0"/>
                <a:ea typeface="Calibri" pitchFamily="34" charset="-122"/>
                <a:cs typeface="Calibri" pitchFamily="34" charset="-120"/>
              </a:rPr>
              <a:t>Purposive sampling</a:t>
            </a:r>
            <a:endParaRPr lang="en-US" sz="1450" dirty="0"/>
          </a:p>
        </p:txBody>
      </p:sp>
      <p:sp>
        <p:nvSpPr>
          <p:cNvPr id="11" name="Text 7"/>
          <p:cNvSpPr/>
          <p:nvPr/>
        </p:nvSpPr>
        <p:spPr>
          <a:xfrm>
            <a:off x="1417320" y="3044952"/>
            <a:ext cx="9875520" cy="502920"/>
          </a:xfrm>
          <a:prstGeom prst="rect">
            <a:avLst/>
          </a:prstGeom>
          <a:noFill/>
          <a:ln/>
        </p:spPr>
        <p:txBody>
          <a:bodyPr wrap="square" rtlCol="0" anchor="ctr"/>
          <a:lstStyle/>
          <a:p>
            <a:pPr marL="0" indent="0">
              <a:lnSpc>
                <a:spcPct val="110000"/>
              </a:lnSpc>
              <a:buNone/>
            </a:pPr>
            <a:r>
              <a:rPr lang="en-US" sz="1200" dirty="0">
                <a:solidFill>
                  <a:srgbClr val="222831"/>
                </a:solidFill>
                <a:latin typeface="Calibri" pitchFamily="34" charset="0"/>
                <a:ea typeface="Calibri" pitchFamily="34" charset="-122"/>
                <a:cs typeface="Calibri" pitchFamily="34" charset="-120"/>
              </a:rPr>
              <a:t>Participants who had experienced a shared-facility breakdown in the past 12 months, across housing types — so a shared finding reflects structure, not one provider’s failure.</a:t>
            </a:r>
            <a:endParaRPr lang="en-US" sz="1200" dirty="0"/>
          </a:p>
        </p:txBody>
      </p:sp>
      <p:sp>
        <p:nvSpPr>
          <p:cNvPr id="12" name="Shape 8"/>
          <p:cNvSpPr/>
          <p:nvPr/>
        </p:nvSpPr>
        <p:spPr>
          <a:xfrm>
            <a:off x="640080" y="3941064"/>
            <a:ext cx="566928" cy="566928"/>
          </a:xfrm>
          <a:prstGeom prst="ellipse">
            <a:avLst/>
          </a:prstGeom>
          <a:solidFill>
            <a:srgbClr val="1C2541"/>
          </a:solidFill>
          <a:ln/>
        </p:spPr>
        <p:txBody>
          <a:bodyPr/>
          <a:lstStyle/>
          <a:p>
            <a:endParaRPr lang="zh-CN" altLang="en-US"/>
          </a:p>
        </p:txBody>
      </p:sp>
      <p:pic>
        <p:nvPicPr>
          <p:cNvPr id="13" name="Image 2" descr="/Users/devonma/Desktop/9106/Assignment/A2b/build/icons/home.png"/>
          <p:cNvPicPr>
            <a:picLocks noChangeAspect="1"/>
          </p:cNvPicPr>
          <p:nvPr/>
        </p:nvPicPr>
        <p:blipFill>
          <a:blip r:embed="rId5"/>
          <a:stretch>
            <a:fillRect/>
          </a:stretch>
        </p:blipFill>
        <p:spPr>
          <a:xfrm>
            <a:off x="787481" y="4088465"/>
            <a:ext cx="272125" cy="272125"/>
          </a:xfrm>
          <a:prstGeom prst="rect">
            <a:avLst/>
          </a:prstGeom>
        </p:spPr>
      </p:pic>
      <p:sp>
        <p:nvSpPr>
          <p:cNvPr id="14" name="Text 9"/>
          <p:cNvSpPr/>
          <p:nvPr/>
        </p:nvSpPr>
        <p:spPr>
          <a:xfrm>
            <a:off x="1417320" y="3913632"/>
            <a:ext cx="9692640" cy="292608"/>
          </a:xfrm>
          <a:prstGeom prst="rect">
            <a:avLst/>
          </a:prstGeom>
          <a:noFill/>
          <a:ln/>
        </p:spPr>
        <p:txBody>
          <a:bodyPr wrap="square" rtlCol="0" anchor="ctr"/>
          <a:lstStyle/>
          <a:p>
            <a:pPr marL="0" indent="0">
              <a:buNone/>
            </a:pPr>
            <a:r>
              <a:rPr lang="en-US" sz="1450" b="1" dirty="0">
                <a:solidFill>
                  <a:srgbClr val="1C2541"/>
                </a:solidFill>
                <a:latin typeface="Calibri" pitchFamily="34" charset="0"/>
                <a:ea typeface="Calibri" pitchFamily="34" charset="-122"/>
                <a:cs typeface="Calibri" pitchFamily="34" charset="-120"/>
              </a:rPr>
              <a:t>Recruitment</a:t>
            </a:r>
            <a:endParaRPr lang="en-US" sz="1450" dirty="0"/>
          </a:p>
        </p:txBody>
      </p:sp>
      <p:sp>
        <p:nvSpPr>
          <p:cNvPr id="15" name="Text 10"/>
          <p:cNvSpPr/>
          <p:nvPr/>
        </p:nvSpPr>
        <p:spPr>
          <a:xfrm>
            <a:off x="1417320" y="4215384"/>
            <a:ext cx="9875520" cy="502920"/>
          </a:xfrm>
          <a:prstGeom prst="rect">
            <a:avLst/>
          </a:prstGeom>
          <a:noFill/>
          <a:ln/>
        </p:spPr>
        <p:txBody>
          <a:bodyPr wrap="square" rtlCol="0" anchor="ctr"/>
          <a:lstStyle/>
          <a:p>
            <a:pPr marL="0" indent="0">
              <a:lnSpc>
                <a:spcPct val="110000"/>
              </a:lnSpc>
              <a:buNone/>
            </a:pPr>
            <a:r>
              <a:rPr lang="en-US" sz="1200" dirty="0">
                <a:solidFill>
                  <a:srgbClr val="222831"/>
                </a:solidFill>
                <a:latin typeface="Calibri" pitchFamily="34" charset="0"/>
                <a:ea typeface="Calibri" pitchFamily="34" charset="-122"/>
                <a:cs typeface="Calibri" pitchFamily="34" charset="-120"/>
              </a:rPr>
              <a:t>University networks, personal contacts, and student/disability support networks — without identifying anyone by impairment.</a:t>
            </a:r>
            <a:endParaRPr lang="en-US" sz="1200" dirty="0"/>
          </a:p>
        </p:txBody>
      </p:sp>
      <p:sp>
        <p:nvSpPr>
          <p:cNvPr id="16" name="Shape 11"/>
          <p:cNvSpPr/>
          <p:nvPr/>
        </p:nvSpPr>
        <p:spPr>
          <a:xfrm>
            <a:off x="640080" y="5111496"/>
            <a:ext cx="566928" cy="566928"/>
          </a:xfrm>
          <a:prstGeom prst="ellipse">
            <a:avLst/>
          </a:prstGeom>
          <a:solidFill>
            <a:srgbClr val="1C2541"/>
          </a:solidFill>
          <a:ln/>
        </p:spPr>
        <p:txBody>
          <a:bodyPr/>
          <a:lstStyle/>
          <a:p>
            <a:endParaRPr lang="zh-CN" altLang="en-US"/>
          </a:p>
        </p:txBody>
      </p:sp>
      <p:pic>
        <p:nvPicPr>
          <p:cNvPr id="17" name="Image 3" descr="/Users/devonma/Desktop/9106/Assignment/A2b/build/icons/book.png"/>
          <p:cNvPicPr>
            <a:picLocks noChangeAspect="1"/>
          </p:cNvPicPr>
          <p:nvPr/>
        </p:nvPicPr>
        <p:blipFill>
          <a:blip r:embed="rId6"/>
          <a:stretch>
            <a:fillRect/>
          </a:stretch>
        </p:blipFill>
        <p:spPr>
          <a:xfrm>
            <a:off x="787481" y="5258897"/>
            <a:ext cx="272125" cy="272125"/>
          </a:xfrm>
          <a:prstGeom prst="rect">
            <a:avLst/>
          </a:prstGeom>
        </p:spPr>
      </p:pic>
      <p:sp>
        <p:nvSpPr>
          <p:cNvPr id="18" name="Text 12"/>
          <p:cNvSpPr/>
          <p:nvPr/>
        </p:nvSpPr>
        <p:spPr>
          <a:xfrm>
            <a:off x="1417320" y="5084064"/>
            <a:ext cx="9692640" cy="292608"/>
          </a:xfrm>
          <a:prstGeom prst="rect">
            <a:avLst/>
          </a:prstGeom>
          <a:noFill/>
          <a:ln/>
        </p:spPr>
        <p:txBody>
          <a:bodyPr wrap="square" rtlCol="0" anchor="ctr"/>
          <a:lstStyle/>
          <a:p>
            <a:pPr marL="0" indent="0">
              <a:buNone/>
            </a:pPr>
            <a:r>
              <a:rPr lang="en-US" sz="1450" b="1" dirty="0">
                <a:solidFill>
                  <a:srgbClr val="1C2541"/>
                </a:solidFill>
                <a:latin typeface="Calibri" pitchFamily="34" charset="0"/>
                <a:ea typeface="Calibri" pitchFamily="34" charset="-122"/>
                <a:cs typeface="Calibri" pitchFamily="34" charset="-120"/>
              </a:rPr>
              <a:t>Secondary research in parallel</a:t>
            </a:r>
            <a:endParaRPr lang="en-US" sz="1450" dirty="0"/>
          </a:p>
        </p:txBody>
      </p:sp>
      <p:sp>
        <p:nvSpPr>
          <p:cNvPr id="19" name="Text 13"/>
          <p:cNvSpPr/>
          <p:nvPr/>
        </p:nvSpPr>
        <p:spPr>
          <a:xfrm>
            <a:off x="1417320" y="5385816"/>
            <a:ext cx="9875520" cy="502920"/>
          </a:xfrm>
          <a:prstGeom prst="rect">
            <a:avLst/>
          </a:prstGeom>
          <a:noFill/>
          <a:ln/>
        </p:spPr>
        <p:txBody>
          <a:bodyPr wrap="square" rtlCol="0" anchor="ctr"/>
          <a:lstStyle/>
          <a:p>
            <a:pPr marL="0" indent="0">
              <a:lnSpc>
                <a:spcPct val="110000"/>
              </a:lnSpc>
              <a:buNone/>
            </a:pPr>
            <a:r>
              <a:rPr lang="en-US" sz="1200" dirty="0">
                <a:solidFill>
                  <a:srgbClr val="222831"/>
                </a:solidFill>
                <a:latin typeface="Calibri" pitchFamily="34" charset="0"/>
                <a:ea typeface="Calibri" pitchFamily="34" charset="-122"/>
                <a:cs typeface="Calibri" pitchFamily="34" charset="-120"/>
              </a:rPr>
              <a:t>Queueing psychology (Maister, 1985; Larson, 1987), legal repair obligations, and reported cases.</a:t>
            </a:r>
            <a:endParaRPr lang="en-US" sz="1200" dirty="0"/>
          </a:p>
        </p:txBody>
      </p:sp>
      <p:sp>
        <p:nvSpPr>
          <p:cNvPr id="20" name="Text 1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21" name="Text 1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229600" cy="502920"/>
          </a:xfrm>
          <a:prstGeom prst="rect">
            <a:avLst/>
          </a:prstGeom>
          <a:noFill/>
          <a:ln/>
        </p:spPr>
        <p:txBody>
          <a:bodyPr wrap="square" rtlCol="0" anchor="ctr"/>
          <a:lstStyle/>
          <a:p>
            <a:pPr marL="0" indent="0">
              <a:buNone/>
            </a:pPr>
            <a:r>
              <a:rPr lang="en-US" sz="2600" b="1" dirty="0">
                <a:solidFill>
                  <a:srgbClr val="1C2541"/>
                </a:solidFill>
                <a:latin typeface="Cambria" pitchFamily="34" charset="0"/>
                <a:ea typeface="Cambria" pitchFamily="34" charset="-122"/>
                <a:cs typeface="Cambria" pitchFamily="34" charset="-120"/>
              </a:rPr>
              <a:t>Personas Extracted from Interviews</a:t>
            </a:r>
            <a:endParaRPr lang="en-US" sz="2600" dirty="0"/>
          </a:p>
        </p:txBody>
      </p:sp>
      <p:sp>
        <p:nvSpPr>
          <p:cNvPr id="3" name="Text 1"/>
          <p:cNvSpPr/>
          <p:nvPr/>
        </p:nvSpPr>
        <p:spPr>
          <a:xfrm>
            <a:off x="640080" y="859536"/>
            <a:ext cx="9144000" cy="320040"/>
          </a:xfrm>
          <a:prstGeom prst="rect">
            <a:avLst/>
          </a:prstGeom>
          <a:noFill/>
          <a:ln/>
        </p:spPr>
        <p:txBody>
          <a:bodyPr wrap="square" rtlCol="0" anchor="ctr"/>
          <a:lstStyle/>
          <a:p>
            <a:pPr marL="0" indent="0">
              <a:buNone/>
            </a:pPr>
            <a:endParaRPr lang="en-US" sz="1250" dirty="0"/>
          </a:p>
        </p:txBody>
      </p:sp>
      <p:sp>
        <p:nvSpPr>
          <p:cNvPr id="4" name="Shape 2"/>
          <p:cNvSpPr/>
          <p:nvPr/>
        </p:nvSpPr>
        <p:spPr>
          <a:xfrm>
            <a:off x="640080" y="1371600"/>
            <a:ext cx="5349240" cy="4800600"/>
          </a:xfrm>
          <a:prstGeom prst="roundRect">
            <a:avLst>
              <a:gd name="adj" fmla="val 1905"/>
            </a:avLst>
          </a:prstGeom>
          <a:solidFill>
            <a:srgbClr val="F4F5F7"/>
          </a:solidFill>
          <a:ln/>
        </p:spPr>
        <p:txBody>
          <a:bodyPr/>
          <a:lstStyle/>
          <a:p>
            <a:endParaRPr lang="zh-CN" altLang="en-US" dirty="0"/>
          </a:p>
        </p:txBody>
      </p:sp>
      <p:sp>
        <p:nvSpPr>
          <p:cNvPr id="5" name="Shape 3"/>
          <p:cNvSpPr/>
          <p:nvPr/>
        </p:nvSpPr>
        <p:spPr>
          <a:xfrm>
            <a:off x="960120" y="1691640"/>
            <a:ext cx="822960" cy="822960"/>
          </a:xfrm>
          <a:prstGeom prst="ellipse">
            <a:avLst/>
          </a:prstGeom>
          <a:solidFill>
            <a:srgbClr val="1C2541"/>
          </a:solidFill>
          <a:ln/>
        </p:spPr>
        <p:txBody>
          <a:bodyPr/>
          <a:lstStyle/>
          <a:p>
            <a:endParaRPr lang="zh-CN" altLang="en-US"/>
          </a:p>
        </p:txBody>
      </p:sp>
      <p:pic>
        <p:nvPicPr>
          <p:cNvPr id="6" name="Image 0" descr="/Users/devonma/Desktop/9106/Assignment/A2b/build/icons/users.png"/>
          <p:cNvPicPr>
            <a:picLocks noChangeAspect="1"/>
          </p:cNvPicPr>
          <p:nvPr/>
        </p:nvPicPr>
        <p:blipFill>
          <a:blip r:embed="rId3"/>
          <a:stretch>
            <a:fillRect/>
          </a:stretch>
        </p:blipFill>
        <p:spPr>
          <a:xfrm>
            <a:off x="1161288" y="1892808"/>
            <a:ext cx="420624" cy="420624"/>
          </a:xfrm>
          <a:prstGeom prst="rect">
            <a:avLst/>
          </a:prstGeom>
        </p:spPr>
      </p:pic>
      <p:sp>
        <p:nvSpPr>
          <p:cNvPr id="7" name="Text 4"/>
          <p:cNvSpPr/>
          <p:nvPr/>
        </p:nvSpPr>
        <p:spPr>
          <a:xfrm>
            <a:off x="1965960" y="1691640"/>
            <a:ext cx="3794760" cy="256032"/>
          </a:xfrm>
          <a:prstGeom prst="rect">
            <a:avLst/>
          </a:prstGeom>
          <a:noFill/>
          <a:ln/>
        </p:spPr>
        <p:txBody>
          <a:bodyPr wrap="square" rtlCol="0" anchor="ctr"/>
          <a:lstStyle/>
          <a:p>
            <a:pPr marL="0" indent="0">
              <a:buNone/>
            </a:pPr>
            <a:r>
              <a:rPr lang="en-US" sz="1050" b="1" kern="0" spc="100" dirty="0">
                <a:solidFill>
                  <a:srgbClr val="D9782D"/>
                </a:solidFill>
                <a:latin typeface="Calibri" pitchFamily="34" charset="0"/>
                <a:ea typeface="Calibri" pitchFamily="34" charset="-122"/>
                <a:cs typeface="Calibri" pitchFamily="34" charset="-120"/>
              </a:rPr>
              <a:t>PERSONA 1</a:t>
            </a:r>
            <a:endParaRPr lang="en-US" sz="1050" dirty="0"/>
          </a:p>
        </p:txBody>
      </p:sp>
      <p:sp>
        <p:nvSpPr>
          <p:cNvPr id="8" name="Text 5"/>
          <p:cNvSpPr/>
          <p:nvPr/>
        </p:nvSpPr>
        <p:spPr>
          <a:xfrm>
            <a:off x="1965960" y="1920240"/>
            <a:ext cx="3794760" cy="365760"/>
          </a:xfrm>
          <a:prstGeom prst="rect">
            <a:avLst/>
          </a:prstGeom>
          <a:noFill/>
          <a:ln/>
        </p:spPr>
        <p:txBody>
          <a:bodyPr wrap="square" rtlCol="0" anchor="ctr"/>
          <a:lstStyle/>
          <a:p>
            <a:pPr marL="0" indent="0">
              <a:buNone/>
            </a:pPr>
            <a:r>
              <a:rPr lang="en-US" dirty="0"/>
              <a:t>The one need additional access but end with waiting quiet</a:t>
            </a:r>
            <a:endParaRPr lang="en-US" sz="1800" dirty="0"/>
          </a:p>
        </p:txBody>
      </p:sp>
      <p:sp>
        <p:nvSpPr>
          <p:cNvPr id="9" name="Text 6"/>
          <p:cNvSpPr/>
          <p:nvPr/>
        </p:nvSpPr>
        <p:spPr>
          <a:xfrm>
            <a:off x="1965960" y="2258568"/>
            <a:ext cx="3794760" cy="320040"/>
          </a:xfrm>
          <a:prstGeom prst="rect">
            <a:avLst/>
          </a:prstGeom>
          <a:noFill/>
          <a:ln/>
        </p:spPr>
        <p:txBody>
          <a:bodyPr wrap="square" rtlCol="0" anchor="ctr"/>
          <a:lstStyle/>
          <a:p>
            <a:pPr marL="0" indent="0">
              <a:buNone/>
            </a:pPr>
            <a:endParaRPr lang="en-US" sz="1100" dirty="0"/>
          </a:p>
        </p:txBody>
      </p:sp>
      <p:sp>
        <p:nvSpPr>
          <p:cNvPr id="10" name="Text 7"/>
          <p:cNvSpPr/>
          <p:nvPr/>
        </p:nvSpPr>
        <p:spPr>
          <a:xfrm>
            <a:off x="960120" y="2743200"/>
            <a:ext cx="4709160" cy="960120"/>
          </a:xfrm>
          <a:prstGeom prst="rect">
            <a:avLst/>
          </a:prstGeom>
          <a:noFill/>
          <a:ln/>
        </p:spPr>
        <p:txBody>
          <a:bodyPr wrap="square" rtlCol="0" anchor="ctr"/>
          <a:lstStyle/>
          <a:p>
            <a:pPr marL="0" indent="0">
              <a:lnSpc>
                <a:spcPct val="115000"/>
              </a:lnSpc>
              <a:buNone/>
            </a:pPr>
            <a:r>
              <a:rPr lang="en-US" sz="1600" dirty="0">
                <a:solidFill>
                  <a:srgbClr val="222831"/>
                </a:solidFill>
                <a:latin typeface="Calibri" pitchFamily="34" charset="0"/>
                <a:ea typeface="Calibri" pitchFamily="34" charset="-122"/>
                <a:cs typeface="Calibri" pitchFamily="34" charset="-120"/>
              </a:rPr>
              <a:t>Has lived in many countries, mostly in apartments near campus; meets repair problems occasionally. He rarely report issues to the building management.</a:t>
            </a:r>
            <a:endParaRPr lang="en-US" sz="1600" dirty="0"/>
          </a:p>
        </p:txBody>
      </p:sp>
      <p:sp>
        <p:nvSpPr>
          <p:cNvPr id="11" name="Text 8"/>
          <p:cNvSpPr/>
          <p:nvPr/>
        </p:nvSpPr>
        <p:spPr>
          <a:xfrm>
            <a:off x="960120" y="3749040"/>
            <a:ext cx="4709160" cy="1051560"/>
          </a:xfrm>
          <a:prstGeom prst="rect">
            <a:avLst/>
          </a:prstGeom>
          <a:noFill/>
          <a:ln/>
        </p:spPr>
        <p:txBody>
          <a:bodyPr wrap="square" rtlCol="0" anchor="ctr"/>
          <a:lstStyle/>
          <a:p>
            <a:pPr marL="0" indent="0">
              <a:lnSpc>
                <a:spcPct val="115000"/>
              </a:lnSpc>
              <a:buNone/>
            </a:pPr>
            <a:r>
              <a:rPr lang="en-US" sz="1200" b="1" dirty="0">
                <a:solidFill>
                  <a:srgbClr val="1C2541"/>
                </a:solidFill>
                <a:latin typeface="Calibri" pitchFamily="34" charset="0"/>
                <a:ea typeface="Calibri" pitchFamily="34" charset="-122"/>
                <a:cs typeface="Calibri" pitchFamily="34" charset="-120"/>
              </a:rPr>
              <a:t>Frustration  </a:t>
            </a:r>
            <a:r>
              <a:rPr lang="en-US" sz="1200" dirty="0">
                <a:solidFill>
                  <a:srgbClr val="222831"/>
                </a:solidFill>
                <a:latin typeface="Calibri" pitchFamily="34" charset="0"/>
                <a:ea typeface="Calibri" pitchFamily="34" charset="-122"/>
                <a:cs typeface="Calibri" pitchFamily="34" charset="-120"/>
              </a:rPr>
              <a:t>Doesn’t know who’s responsible or whether asking again would help — nothing is ever confirmed, so continuing to raise it starts to feel pointless.</a:t>
            </a:r>
            <a:endParaRPr lang="en-US" sz="1200" dirty="0"/>
          </a:p>
        </p:txBody>
      </p:sp>
      <p:sp>
        <p:nvSpPr>
          <p:cNvPr id="12" name="Shape 9"/>
          <p:cNvSpPr/>
          <p:nvPr/>
        </p:nvSpPr>
        <p:spPr>
          <a:xfrm>
            <a:off x="960120" y="4892040"/>
            <a:ext cx="4709160" cy="1051560"/>
          </a:xfrm>
          <a:prstGeom prst="roundRect">
            <a:avLst>
              <a:gd name="adj" fmla="val 5217"/>
            </a:avLst>
          </a:prstGeom>
          <a:solidFill>
            <a:srgbClr val="1C2541"/>
          </a:solidFill>
          <a:ln/>
        </p:spPr>
        <p:txBody>
          <a:bodyPr/>
          <a:lstStyle/>
          <a:p>
            <a:endParaRPr lang="zh-CN" altLang="en-US"/>
          </a:p>
        </p:txBody>
      </p:sp>
      <p:sp>
        <p:nvSpPr>
          <p:cNvPr id="13" name="Text 10"/>
          <p:cNvSpPr/>
          <p:nvPr/>
        </p:nvSpPr>
        <p:spPr>
          <a:xfrm>
            <a:off x="1143000" y="4956048"/>
            <a:ext cx="4343400" cy="914400"/>
          </a:xfrm>
          <a:prstGeom prst="rect">
            <a:avLst/>
          </a:prstGeom>
          <a:noFill/>
          <a:ln/>
        </p:spPr>
        <p:txBody>
          <a:bodyPr wrap="square" rtlCol="0" anchor="ctr"/>
          <a:lstStyle/>
          <a:p>
            <a:pPr marL="0" indent="0">
              <a:lnSpc>
                <a:spcPct val="115000"/>
              </a:lnSpc>
              <a:buNone/>
            </a:pPr>
            <a:r>
              <a:rPr lang="en-US" sz="1100" i="1" dirty="0">
                <a:solidFill>
                  <a:srgbClr val="FFFFFF"/>
                </a:solidFill>
                <a:latin typeface="Cambria" pitchFamily="34" charset="0"/>
                <a:ea typeface="Cambria" pitchFamily="34" charset="-122"/>
                <a:cs typeface="Cambria" pitchFamily="34" charset="-120"/>
              </a:rPr>
              <a:t>“I reported it once. After that I just stopped asking, I didn’t know who to ask, or if it would even matter.”</a:t>
            </a:r>
            <a:endParaRPr lang="en-US" sz="1100" dirty="0"/>
          </a:p>
        </p:txBody>
      </p:sp>
      <p:sp>
        <p:nvSpPr>
          <p:cNvPr id="14" name="Shape 11"/>
          <p:cNvSpPr/>
          <p:nvPr/>
        </p:nvSpPr>
        <p:spPr>
          <a:xfrm>
            <a:off x="6217920" y="1371600"/>
            <a:ext cx="5349240" cy="4800600"/>
          </a:xfrm>
          <a:prstGeom prst="roundRect">
            <a:avLst>
              <a:gd name="adj" fmla="val 1905"/>
            </a:avLst>
          </a:prstGeom>
          <a:solidFill>
            <a:srgbClr val="F4F5F7"/>
          </a:solidFill>
          <a:ln/>
        </p:spPr>
        <p:txBody>
          <a:bodyPr/>
          <a:lstStyle/>
          <a:p>
            <a:endParaRPr lang="zh-CN" altLang="en-US"/>
          </a:p>
        </p:txBody>
      </p:sp>
      <p:sp>
        <p:nvSpPr>
          <p:cNvPr id="15" name="Shape 12"/>
          <p:cNvSpPr/>
          <p:nvPr/>
        </p:nvSpPr>
        <p:spPr>
          <a:xfrm>
            <a:off x="6537960" y="1691640"/>
            <a:ext cx="822960" cy="822960"/>
          </a:xfrm>
          <a:prstGeom prst="ellipse">
            <a:avLst/>
          </a:prstGeom>
          <a:solidFill>
            <a:srgbClr val="1C2541"/>
          </a:solidFill>
          <a:ln/>
        </p:spPr>
        <p:txBody>
          <a:bodyPr/>
          <a:lstStyle/>
          <a:p>
            <a:endParaRPr lang="zh-CN" altLang="en-US"/>
          </a:p>
        </p:txBody>
      </p:sp>
      <p:pic>
        <p:nvPicPr>
          <p:cNvPr id="16" name="Image 1" descr="/Users/devonma/Desktop/9106/Assignment/A2b/build/icons/users.png"/>
          <p:cNvPicPr>
            <a:picLocks noChangeAspect="1"/>
          </p:cNvPicPr>
          <p:nvPr/>
        </p:nvPicPr>
        <p:blipFill>
          <a:blip r:embed="rId3"/>
          <a:stretch>
            <a:fillRect/>
          </a:stretch>
        </p:blipFill>
        <p:spPr>
          <a:xfrm>
            <a:off x="6739128" y="1892808"/>
            <a:ext cx="420624" cy="420624"/>
          </a:xfrm>
          <a:prstGeom prst="rect">
            <a:avLst/>
          </a:prstGeom>
        </p:spPr>
      </p:pic>
      <p:sp>
        <p:nvSpPr>
          <p:cNvPr id="17" name="Text 13"/>
          <p:cNvSpPr/>
          <p:nvPr/>
        </p:nvSpPr>
        <p:spPr>
          <a:xfrm>
            <a:off x="7543800" y="1691640"/>
            <a:ext cx="3794760" cy="256032"/>
          </a:xfrm>
          <a:prstGeom prst="rect">
            <a:avLst/>
          </a:prstGeom>
          <a:noFill/>
          <a:ln/>
        </p:spPr>
        <p:txBody>
          <a:bodyPr wrap="square" rtlCol="0" anchor="ctr"/>
          <a:lstStyle/>
          <a:p>
            <a:pPr marL="0" indent="0">
              <a:buNone/>
            </a:pPr>
            <a:r>
              <a:rPr lang="en-US" sz="1050" b="1" kern="0" spc="100" dirty="0">
                <a:solidFill>
                  <a:srgbClr val="D9782D"/>
                </a:solidFill>
                <a:latin typeface="Calibri" pitchFamily="34" charset="0"/>
                <a:ea typeface="Calibri" pitchFamily="34" charset="-122"/>
                <a:cs typeface="Calibri" pitchFamily="34" charset="-120"/>
              </a:rPr>
              <a:t>PERSONA 2</a:t>
            </a:r>
            <a:endParaRPr lang="en-US" sz="1050" dirty="0"/>
          </a:p>
        </p:txBody>
      </p:sp>
      <p:sp>
        <p:nvSpPr>
          <p:cNvPr id="18" name="Text 14"/>
          <p:cNvSpPr/>
          <p:nvPr/>
        </p:nvSpPr>
        <p:spPr>
          <a:xfrm>
            <a:off x="7543800" y="1920240"/>
            <a:ext cx="3794760" cy="365760"/>
          </a:xfrm>
          <a:prstGeom prst="rect">
            <a:avLst/>
          </a:prstGeom>
          <a:noFill/>
          <a:ln/>
        </p:spPr>
        <p:txBody>
          <a:bodyPr wrap="square" rtlCol="0" anchor="ctr"/>
          <a:lstStyle/>
          <a:p>
            <a:pPr marL="0" indent="0">
              <a:buNone/>
            </a:pPr>
            <a:r>
              <a:rPr lang="en-US" sz="1800" b="1" dirty="0">
                <a:solidFill>
                  <a:srgbClr val="1C2541"/>
                </a:solidFill>
                <a:latin typeface="Cambria" pitchFamily="34" charset="0"/>
                <a:ea typeface="Cambria" pitchFamily="34" charset="-122"/>
                <a:cs typeface="Cambria" pitchFamily="34" charset="-120"/>
              </a:rPr>
              <a:t>Persistent Asker</a:t>
            </a:r>
            <a:endParaRPr lang="en-US" sz="1800" dirty="0"/>
          </a:p>
        </p:txBody>
      </p:sp>
      <p:sp>
        <p:nvSpPr>
          <p:cNvPr id="19" name="Text 15"/>
          <p:cNvSpPr/>
          <p:nvPr/>
        </p:nvSpPr>
        <p:spPr>
          <a:xfrm>
            <a:off x="7543800" y="2258568"/>
            <a:ext cx="3794760" cy="320040"/>
          </a:xfrm>
          <a:prstGeom prst="rect">
            <a:avLst/>
          </a:prstGeom>
          <a:noFill/>
          <a:ln/>
        </p:spPr>
        <p:txBody>
          <a:bodyPr wrap="square" rtlCol="0" anchor="ctr"/>
          <a:lstStyle/>
          <a:p>
            <a:pPr marL="0" indent="0">
              <a:buNone/>
            </a:pPr>
            <a:endParaRPr lang="en-US" sz="1100" dirty="0"/>
          </a:p>
        </p:txBody>
      </p:sp>
      <p:sp>
        <p:nvSpPr>
          <p:cNvPr id="20" name="Text 16"/>
          <p:cNvSpPr/>
          <p:nvPr/>
        </p:nvSpPr>
        <p:spPr>
          <a:xfrm>
            <a:off x="6537960" y="2743200"/>
            <a:ext cx="4709160" cy="960120"/>
          </a:xfrm>
          <a:prstGeom prst="rect">
            <a:avLst/>
          </a:prstGeom>
          <a:noFill/>
          <a:ln/>
        </p:spPr>
        <p:txBody>
          <a:bodyPr wrap="square" rtlCol="0" anchor="ctr"/>
          <a:lstStyle/>
          <a:p>
            <a:pPr marL="0" indent="0">
              <a:lnSpc>
                <a:spcPct val="115000"/>
              </a:lnSpc>
              <a:buNone/>
            </a:pPr>
            <a:r>
              <a:rPr lang="en-US" sz="1600" b="1" dirty="0">
                <a:solidFill>
                  <a:srgbClr val="1C2541"/>
                </a:solidFill>
                <a:latin typeface="Calibri" pitchFamily="34" charset="0"/>
                <a:ea typeface="Calibri" pitchFamily="34" charset="-122"/>
                <a:cs typeface="Calibri" pitchFamily="34" charset="-120"/>
              </a:rPr>
              <a:t>Student in USYD, </a:t>
            </a:r>
            <a:r>
              <a:rPr lang="en-US" sz="1600" dirty="0">
                <a:solidFill>
                  <a:srgbClr val="222831"/>
                </a:solidFill>
                <a:latin typeface="Calibri" pitchFamily="34" charset="0"/>
                <a:ea typeface="Calibri" pitchFamily="34" charset="-122"/>
                <a:cs typeface="Calibri" pitchFamily="34" charset="-120"/>
              </a:rPr>
              <a:t>Keeps raising the fault through the proper channels rather than letting it go, treats it as something that should be resolved, not lived with.</a:t>
            </a:r>
            <a:endParaRPr lang="en-US" sz="1600" dirty="0"/>
          </a:p>
        </p:txBody>
      </p:sp>
      <p:sp>
        <p:nvSpPr>
          <p:cNvPr id="21" name="Text 17"/>
          <p:cNvSpPr/>
          <p:nvPr/>
        </p:nvSpPr>
        <p:spPr>
          <a:xfrm>
            <a:off x="6537960" y="3749040"/>
            <a:ext cx="4709160" cy="1051560"/>
          </a:xfrm>
          <a:prstGeom prst="rect">
            <a:avLst/>
          </a:prstGeom>
          <a:noFill/>
          <a:ln/>
        </p:spPr>
        <p:txBody>
          <a:bodyPr wrap="square" rtlCol="0" anchor="ctr"/>
          <a:lstStyle/>
          <a:p>
            <a:pPr marL="0" indent="0">
              <a:lnSpc>
                <a:spcPct val="115000"/>
              </a:lnSpc>
              <a:buNone/>
            </a:pPr>
            <a:r>
              <a:rPr lang="en-US" sz="1200" b="1" dirty="0">
                <a:solidFill>
                  <a:srgbClr val="1C2541"/>
                </a:solidFill>
                <a:latin typeface="Calibri" pitchFamily="34" charset="0"/>
                <a:ea typeface="Calibri" pitchFamily="34" charset="-122"/>
                <a:cs typeface="Calibri" pitchFamily="34" charset="-120"/>
              </a:rPr>
              <a:t>Frustration  </a:t>
            </a:r>
            <a:r>
              <a:rPr lang="en-US" sz="1200" dirty="0">
                <a:solidFill>
                  <a:srgbClr val="222831"/>
                </a:solidFill>
                <a:latin typeface="Calibri" pitchFamily="34" charset="0"/>
                <a:ea typeface="Calibri" pitchFamily="34" charset="-122"/>
                <a:cs typeface="Calibri" pitchFamily="34" charset="-120"/>
              </a:rPr>
              <a:t>Keeps raising the issue and keeps hearing “we’re looking into it” — no timeframe, no name attached; the effort never converts into clarity.</a:t>
            </a:r>
            <a:endParaRPr lang="en-US" sz="1200" dirty="0"/>
          </a:p>
        </p:txBody>
      </p:sp>
      <p:sp>
        <p:nvSpPr>
          <p:cNvPr id="22" name="Shape 18"/>
          <p:cNvSpPr/>
          <p:nvPr/>
        </p:nvSpPr>
        <p:spPr>
          <a:xfrm>
            <a:off x="6537960" y="4892040"/>
            <a:ext cx="4709160" cy="1051560"/>
          </a:xfrm>
          <a:prstGeom prst="roundRect">
            <a:avLst>
              <a:gd name="adj" fmla="val 5217"/>
            </a:avLst>
          </a:prstGeom>
          <a:solidFill>
            <a:srgbClr val="1C2541"/>
          </a:solidFill>
          <a:ln/>
        </p:spPr>
        <p:txBody>
          <a:bodyPr/>
          <a:lstStyle/>
          <a:p>
            <a:endParaRPr lang="zh-CN" altLang="en-US"/>
          </a:p>
        </p:txBody>
      </p:sp>
      <p:sp>
        <p:nvSpPr>
          <p:cNvPr id="23" name="Text 19"/>
          <p:cNvSpPr/>
          <p:nvPr/>
        </p:nvSpPr>
        <p:spPr>
          <a:xfrm>
            <a:off x="6720840" y="4956048"/>
            <a:ext cx="4343400" cy="914400"/>
          </a:xfrm>
          <a:prstGeom prst="rect">
            <a:avLst/>
          </a:prstGeom>
          <a:noFill/>
          <a:ln/>
        </p:spPr>
        <p:txBody>
          <a:bodyPr wrap="square" rtlCol="0" anchor="ctr"/>
          <a:lstStyle/>
          <a:p>
            <a:pPr marL="0" indent="0">
              <a:lnSpc>
                <a:spcPct val="115000"/>
              </a:lnSpc>
              <a:buNone/>
            </a:pPr>
            <a:r>
              <a:rPr lang="en-US" sz="1100" i="1" dirty="0">
                <a:solidFill>
                  <a:srgbClr val="FFFFFF"/>
                </a:solidFill>
                <a:latin typeface="Cambria" pitchFamily="34" charset="0"/>
                <a:ea typeface="Cambria" pitchFamily="34" charset="-122"/>
                <a:cs typeface="Cambria" pitchFamily="34" charset="-120"/>
              </a:rPr>
              <a:t>“I called three times. Every time it was ‘someone will look into it.’ Nobody ever told me who, or when.”</a:t>
            </a:r>
            <a:endParaRPr lang="en-US" sz="1100" dirty="0"/>
          </a:p>
        </p:txBody>
      </p:sp>
      <p:sp>
        <p:nvSpPr>
          <p:cNvPr id="24" name="Text 20"/>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25" name="Text 21"/>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502920"/>
          </a:xfrm>
          <a:prstGeom prst="rect">
            <a:avLst/>
          </a:prstGeom>
          <a:noFill/>
          <a:ln/>
        </p:spPr>
        <p:txBody>
          <a:bodyPr wrap="square" rtlCol="0" anchor="ctr"/>
          <a:lstStyle/>
          <a:p>
            <a:pPr marL="0" indent="0">
              <a:buNone/>
            </a:pPr>
            <a:r>
              <a:rPr lang="en-US" sz="2800" b="1" dirty="0">
                <a:solidFill>
                  <a:srgbClr val="1C2541"/>
                </a:solidFill>
                <a:latin typeface="Cambria" pitchFamily="34" charset="0"/>
                <a:ea typeface="Cambria" pitchFamily="34" charset="-122"/>
                <a:cs typeface="Cambria" pitchFamily="34" charset="-120"/>
              </a:rPr>
              <a:t>Data Analysis – Affinity Map Told us:</a:t>
            </a:r>
            <a:endParaRPr lang="en-US" sz="2800" dirty="0"/>
          </a:p>
        </p:txBody>
      </p:sp>
      <p:sp>
        <p:nvSpPr>
          <p:cNvPr id="3" name="Text 1"/>
          <p:cNvSpPr/>
          <p:nvPr/>
        </p:nvSpPr>
        <p:spPr>
          <a:xfrm>
            <a:off x="640080" y="886968"/>
            <a:ext cx="8229600" cy="320040"/>
          </a:xfrm>
          <a:prstGeom prst="rect">
            <a:avLst/>
          </a:prstGeom>
          <a:noFill/>
          <a:ln/>
        </p:spPr>
        <p:txBody>
          <a:bodyPr wrap="square" rtlCol="0" anchor="ctr"/>
          <a:lstStyle/>
          <a:p>
            <a:pPr marL="0" indent="0">
              <a:buNone/>
            </a:pPr>
            <a:endParaRPr lang="en-US" sz="1300" dirty="0"/>
          </a:p>
        </p:txBody>
      </p:sp>
      <p:sp>
        <p:nvSpPr>
          <p:cNvPr id="4" name="Shape 2"/>
          <p:cNvSpPr/>
          <p:nvPr/>
        </p:nvSpPr>
        <p:spPr>
          <a:xfrm>
            <a:off x="640080" y="1417320"/>
            <a:ext cx="2697480" cy="1170432"/>
          </a:xfrm>
          <a:prstGeom prst="roundRect">
            <a:avLst>
              <a:gd name="adj" fmla="val 6250"/>
            </a:avLst>
          </a:prstGeom>
          <a:solidFill>
            <a:srgbClr val="F4F5F7"/>
          </a:solidFill>
          <a:ln/>
        </p:spPr>
        <p:txBody>
          <a:bodyPr/>
          <a:lstStyle/>
          <a:p>
            <a:endParaRPr lang="zh-CN" altLang="en-US"/>
          </a:p>
        </p:txBody>
      </p:sp>
      <p:sp>
        <p:nvSpPr>
          <p:cNvPr id="5" name="Shape 3"/>
          <p:cNvSpPr/>
          <p:nvPr/>
        </p:nvSpPr>
        <p:spPr>
          <a:xfrm>
            <a:off x="777240" y="1554480"/>
            <a:ext cx="365760" cy="365760"/>
          </a:xfrm>
          <a:prstGeom prst="ellipse">
            <a:avLst/>
          </a:prstGeom>
          <a:solidFill>
            <a:srgbClr val="D9782D"/>
          </a:solidFill>
          <a:ln/>
        </p:spPr>
        <p:txBody>
          <a:bodyPr/>
          <a:lstStyle/>
          <a:p>
            <a:endParaRPr lang="zh-CN" altLang="en-US"/>
          </a:p>
        </p:txBody>
      </p:sp>
      <p:sp>
        <p:nvSpPr>
          <p:cNvPr id="6" name="Text 4"/>
          <p:cNvSpPr/>
          <p:nvPr/>
        </p:nvSpPr>
        <p:spPr>
          <a:xfrm>
            <a:off x="777240" y="155448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444752"/>
            <a:ext cx="1920240" cy="1069848"/>
          </a:xfrm>
          <a:prstGeom prst="rect">
            <a:avLst/>
          </a:prstGeom>
          <a:noFill/>
          <a:ln/>
        </p:spPr>
        <p:txBody>
          <a:bodyPr wrap="square" rtlCol="0" anchor="ctr"/>
          <a:lstStyle/>
          <a:p>
            <a:pPr marL="0" indent="0">
              <a:lnSpc>
                <a:spcPct val="105000"/>
              </a:lnSpc>
              <a:buNone/>
            </a:pPr>
            <a:r>
              <a:rPr lang="en-US" sz="1400" dirty="0">
                <a:solidFill>
                  <a:srgbClr val="222831"/>
                </a:solidFill>
                <a:latin typeface="Calibri" pitchFamily="34" charset="0"/>
                <a:ea typeface="Calibri" pitchFamily="34" charset="-122"/>
                <a:cs typeface="Calibri" pitchFamily="34" charset="-120"/>
              </a:rPr>
              <a:t>Unclear standards for how issues are detected and resolved</a:t>
            </a:r>
            <a:endParaRPr lang="en-US" sz="1400" dirty="0"/>
          </a:p>
        </p:txBody>
      </p:sp>
      <p:sp>
        <p:nvSpPr>
          <p:cNvPr id="8" name="Shape 6"/>
          <p:cNvSpPr/>
          <p:nvPr/>
        </p:nvSpPr>
        <p:spPr>
          <a:xfrm>
            <a:off x="640080" y="2926080"/>
            <a:ext cx="2697480" cy="1170432"/>
          </a:xfrm>
          <a:prstGeom prst="roundRect">
            <a:avLst>
              <a:gd name="adj" fmla="val 6250"/>
            </a:avLst>
          </a:prstGeom>
          <a:solidFill>
            <a:srgbClr val="F4F5F7"/>
          </a:solidFill>
          <a:ln/>
        </p:spPr>
        <p:txBody>
          <a:bodyPr/>
          <a:lstStyle/>
          <a:p>
            <a:endParaRPr lang="zh-CN" altLang="en-US"/>
          </a:p>
        </p:txBody>
      </p:sp>
      <p:sp>
        <p:nvSpPr>
          <p:cNvPr id="9" name="Shape 7"/>
          <p:cNvSpPr/>
          <p:nvPr/>
        </p:nvSpPr>
        <p:spPr>
          <a:xfrm>
            <a:off x="777240" y="3063240"/>
            <a:ext cx="365760" cy="365760"/>
          </a:xfrm>
          <a:prstGeom prst="ellipse">
            <a:avLst/>
          </a:prstGeom>
          <a:solidFill>
            <a:srgbClr val="D9782D"/>
          </a:solidFill>
          <a:ln/>
        </p:spPr>
        <p:txBody>
          <a:bodyPr/>
          <a:lstStyle/>
          <a:p>
            <a:endParaRPr lang="zh-CN" altLang="en-US"/>
          </a:p>
        </p:txBody>
      </p:sp>
      <p:sp>
        <p:nvSpPr>
          <p:cNvPr id="10" name="Text 8"/>
          <p:cNvSpPr/>
          <p:nvPr/>
        </p:nvSpPr>
        <p:spPr>
          <a:xfrm>
            <a:off x="777240" y="306324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80160" y="3063240"/>
            <a:ext cx="1920240" cy="960120"/>
          </a:xfrm>
          <a:prstGeom prst="rect">
            <a:avLst/>
          </a:prstGeom>
          <a:noFill/>
          <a:ln/>
        </p:spPr>
        <p:txBody>
          <a:bodyPr wrap="square" rtlCol="0" anchor="ctr"/>
          <a:lstStyle/>
          <a:p>
            <a:pPr marL="0" indent="0">
              <a:lnSpc>
                <a:spcPct val="105000"/>
              </a:lnSpc>
              <a:buNone/>
            </a:pPr>
            <a:r>
              <a:rPr lang="en-US" sz="1600" dirty="0">
                <a:solidFill>
                  <a:srgbClr val="222831"/>
                </a:solidFill>
                <a:latin typeface="Calibri" pitchFamily="34" charset="0"/>
                <a:ea typeface="Calibri" pitchFamily="34" charset="-122"/>
                <a:cs typeface="Calibri" pitchFamily="34" charset="-120"/>
              </a:rPr>
              <a:t>The wait disrupts other plans in residents’ lives</a:t>
            </a:r>
            <a:endParaRPr lang="en-US" sz="1600" dirty="0"/>
          </a:p>
        </p:txBody>
      </p:sp>
      <p:sp>
        <p:nvSpPr>
          <p:cNvPr id="12" name="Shape 10"/>
          <p:cNvSpPr/>
          <p:nvPr/>
        </p:nvSpPr>
        <p:spPr>
          <a:xfrm>
            <a:off x="640080" y="4434840"/>
            <a:ext cx="2697480" cy="1170432"/>
          </a:xfrm>
          <a:prstGeom prst="roundRect">
            <a:avLst>
              <a:gd name="adj" fmla="val 6250"/>
            </a:avLst>
          </a:prstGeom>
          <a:solidFill>
            <a:srgbClr val="F4F5F7"/>
          </a:solidFill>
          <a:ln/>
        </p:spPr>
        <p:txBody>
          <a:bodyPr/>
          <a:lstStyle/>
          <a:p>
            <a:endParaRPr lang="zh-CN" altLang="en-US"/>
          </a:p>
        </p:txBody>
      </p:sp>
      <p:sp>
        <p:nvSpPr>
          <p:cNvPr id="13" name="Shape 11"/>
          <p:cNvSpPr/>
          <p:nvPr/>
        </p:nvSpPr>
        <p:spPr>
          <a:xfrm>
            <a:off x="777240" y="4572000"/>
            <a:ext cx="365760" cy="365760"/>
          </a:xfrm>
          <a:prstGeom prst="ellipse">
            <a:avLst/>
          </a:prstGeom>
          <a:solidFill>
            <a:srgbClr val="D9782D"/>
          </a:solidFill>
          <a:ln/>
        </p:spPr>
        <p:txBody>
          <a:bodyPr/>
          <a:lstStyle/>
          <a:p>
            <a:endParaRPr lang="zh-CN" altLang="en-US"/>
          </a:p>
        </p:txBody>
      </p:sp>
      <p:sp>
        <p:nvSpPr>
          <p:cNvPr id="14" name="Text 12"/>
          <p:cNvSpPr/>
          <p:nvPr/>
        </p:nvSpPr>
        <p:spPr>
          <a:xfrm>
            <a:off x="777240" y="457200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43000" y="4572000"/>
            <a:ext cx="2057400" cy="960120"/>
          </a:xfrm>
          <a:prstGeom prst="rect">
            <a:avLst/>
          </a:prstGeom>
          <a:noFill/>
          <a:ln/>
        </p:spPr>
        <p:txBody>
          <a:bodyPr wrap="square" rtlCol="0" anchor="ctr"/>
          <a:lstStyle/>
          <a:p>
            <a:pPr marL="0" indent="0">
              <a:lnSpc>
                <a:spcPct val="105000"/>
              </a:lnSpc>
              <a:buNone/>
            </a:pPr>
            <a:r>
              <a:rPr lang="en-US" sz="1600" dirty="0">
                <a:solidFill>
                  <a:srgbClr val="222831"/>
                </a:solidFill>
                <a:latin typeface="Calibri" pitchFamily="34" charset="0"/>
                <a:ea typeface="Calibri" pitchFamily="34" charset="-122"/>
                <a:cs typeface="Calibri" pitchFamily="34" charset="-120"/>
              </a:rPr>
              <a:t>Status is never updated</a:t>
            </a:r>
            <a:endParaRPr lang="en-US" sz="1600" dirty="0"/>
          </a:p>
        </p:txBody>
      </p:sp>
      <p:sp>
        <p:nvSpPr>
          <p:cNvPr id="16" name="Shape 14"/>
          <p:cNvSpPr/>
          <p:nvPr/>
        </p:nvSpPr>
        <p:spPr>
          <a:xfrm>
            <a:off x="3566160" y="1428222"/>
            <a:ext cx="2697480" cy="1170432"/>
          </a:xfrm>
          <a:prstGeom prst="roundRect">
            <a:avLst>
              <a:gd name="adj" fmla="val 6250"/>
            </a:avLst>
          </a:prstGeom>
          <a:solidFill>
            <a:srgbClr val="F4F5F7"/>
          </a:solidFill>
          <a:ln/>
        </p:spPr>
        <p:txBody>
          <a:bodyPr/>
          <a:lstStyle/>
          <a:p>
            <a:endParaRPr lang="zh-CN" altLang="en-US"/>
          </a:p>
        </p:txBody>
      </p:sp>
      <p:sp>
        <p:nvSpPr>
          <p:cNvPr id="17" name="Shape 15"/>
          <p:cNvSpPr/>
          <p:nvPr/>
        </p:nvSpPr>
        <p:spPr>
          <a:xfrm>
            <a:off x="3703320" y="1565382"/>
            <a:ext cx="365760" cy="365760"/>
          </a:xfrm>
          <a:prstGeom prst="ellipse">
            <a:avLst/>
          </a:prstGeom>
          <a:solidFill>
            <a:srgbClr val="D9782D"/>
          </a:solidFill>
          <a:ln/>
        </p:spPr>
        <p:txBody>
          <a:bodyPr/>
          <a:lstStyle/>
          <a:p>
            <a:endParaRPr lang="zh-CN" altLang="en-US"/>
          </a:p>
        </p:txBody>
      </p:sp>
      <p:sp>
        <p:nvSpPr>
          <p:cNvPr id="18" name="Text 16"/>
          <p:cNvSpPr/>
          <p:nvPr/>
        </p:nvSpPr>
        <p:spPr>
          <a:xfrm>
            <a:off x="3703320" y="1565382"/>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206240" y="1534434"/>
            <a:ext cx="1920240" cy="991068"/>
          </a:xfrm>
          <a:prstGeom prst="rect">
            <a:avLst/>
          </a:prstGeom>
          <a:noFill/>
          <a:ln/>
        </p:spPr>
        <p:txBody>
          <a:bodyPr wrap="square" rtlCol="0" anchor="ctr"/>
          <a:lstStyle/>
          <a:p>
            <a:pPr marL="0" indent="0">
              <a:lnSpc>
                <a:spcPct val="105000"/>
              </a:lnSpc>
              <a:buNone/>
            </a:pPr>
            <a:r>
              <a:rPr lang="en-US" sz="1600" dirty="0">
                <a:solidFill>
                  <a:srgbClr val="222831"/>
                </a:solidFill>
                <a:latin typeface="Calibri" pitchFamily="34" charset="0"/>
                <a:ea typeface="Calibri" pitchFamily="34" charset="-122"/>
                <a:cs typeface="Calibri" pitchFamily="34" charset="-120"/>
              </a:rPr>
              <a:t>Waits run longer than residents were led to expect</a:t>
            </a:r>
            <a:endParaRPr lang="en-US" sz="1600" dirty="0"/>
          </a:p>
        </p:txBody>
      </p:sp>
      <p:sp>
        <p:nvSpPr>
          <p:cNvPr id="20" name="Shape 18"/>
          <p:cNvSpPr/>
          <p:nvPr/>
        </p:nvSpPr>
        <p:spPr>
          <a:xfrm>
            <a:off x="3566160" y="2926080"/>
            <a:ext cx="2697480" cy="1170432"/>
          </a:xfrm>
          <a:prstGeom prst="roundRect">
            <a:avLst>
              <a:gd name="adj" fmla="val 6250"/>
            </a:avLst>
          </a:prstGeom>
          <a:solidFill>
            <a:srgbClr val="F4F5F7"/>
          </a:solidFill>
          <a:ln/>
        </p:spPr>
        <p:txBody>
          <a:bodyPr/>
          <a:lstStyle/>
          <a:p>
            <a:endParaRPr lang="zh-CN" altLang="en-US"/>
          </a:p>
        </p:txBody>
      </p:sp>
      <p:sp>
        <p:nvSpPr>
          <p:cNvPr id="21" name="Shape 19"/>
          <p:cNvSpPr/>
          <p:nvPr/>
        </p:nvSpPr>
        <p:spPr>
          <a:xfrm>
            <a:off x="3703320" y="3063240"/>
            <a:ext cx="365760" cy="365760"/>
          </a:xfrm>
          <a:prstGeom prst="ellipse">
            <a:avLst/>
          </a:prstGeom>
          <a:solidFill>
            <a:srgbClr val="D9782D"/>
          </a:solidFill>
          <a:ln/>
        </p:spPr>
        <p:txBody>
          <a:bodyPr/>
          <a:lstStyle/>
          <a:p>
            <a:endParaRPr lang="zh-CN" altLang="en-US"/>
          </a:p>
        </p:txBody>
      </p:sp>
      <p:sp>
        <p:nvSpPr>
          <p:cNvPr id="22" name="Text 20"/>
          <p:cNvSpPr/>
          <p:nvPr/>
        </p:nvSpPr>
        <p:spPr>
          <a:xfrm>
            <a:off x="3703320" y="306324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4206240" y="3165582"/>
            <a:ext cx="1920240" cy="857778"/>
          </a:xfrm>
          <a:prstGeom prst="rect">
            <a:avLst/>
          </a:prstGeom>
          <a:noFill/>
          <a:ln/>
        </p:spPr>
        <p:txBody>
          <a:bodyPr wrap="square" rtlCol="0" anchor="ctr"/>
          <a:lstStyle/>
          <a:p>
            <a:pPr marL="0" indent="0">
              <a:lnSpc>
                <a:spcPct val="105000"/>
              </a:lnSpc>
              <a:buNone/>
            </a:pPr>
            <a:r>
              <a:rPr lang="en-US" sz="1600" dirty="0">
                <a:solidFill>
                  <a:srgbClr val="222831"/>
                </a:solidFill>
                <a:latin typeface="Calibri" pitchFamily="34" charset="0"/>
                <a:ea typeface="Calibri" pitchFamily="34" charset="-122"/>
                <a:cs typeface="Calibri" pitchFamily="34" charset="-120"/>
              </a:rPr>
              <a:t>Replies are unhelpful, or there’s no reply at all</a:t>
            </a:r>
            <a:endParaRPr lang="en-US" sz="1600" dirty="0"/>
          </a:p>
        </p:txBody>
      </p:sp>
      <p:sp>
        <p:nvSpPr>
          <p:cNvPr id="24" name="Shape 22"/>
          <p:cNvSpPr/>
          <p:nvPr/>
        </p:nvSpPr>
        <p:spPr>
          <a:xfrm>
            <a:off x="3566160" y="4454886"/>
            <a:ext cx="2697480" cy="1170432"/>
          </a:xfrm>
          <a:prstGeom prst="roundRect">
            <a:avLst>
              <a:gd name="adj" fmla="val 6250"/>
            </a:avLst>
          </a:prstGeom>
          <a:solidFill>
            <a:srgbClr val="F4F5F7"/>
          </a:solidFill>
          <a:ln/>
        </p:spPr>
        <p:txBody>
          <a:bodyPr/>
          <a:lstStyle/>
          <a:p>
            <a:endParaRPr lang="zh-CN" altLang="en-US"/>
          </a:p>
        </p:txBody>
      </p:sp>
      <p:sp>
        <p:nvSpPr>
          <p:cNvPr id="25" name="Shape 23"/>
          <p:cNvSpPr/>
          <p:nvPr/>
        </p:nvSpPr>
        <p:spPr>
          <a:xfrm>
            <a:off x="3703320" y="4592046"/>
            <a:ext cx="365760" cy="365760"/>
          </a:xfrm>
          <a:prstGeom prst="ellipse">
            <a:avLst/>
          </a:prstGeom>
          <a:solidFill>
            <a:srgbClr val="D9782D"/>
          </a:solidFill>
          <a:ln/>
        </p:spPr>
        <p:txBody>
          <a:bodyPr/>
          <a:lstStyle/>
          <a:p>
            <a:endParaRPr lang="zh-CN" altLang="en-US"/>
          </a:p>
        </p:txBody>
      </p:sp>
      <p:sp>
        <p:nvSpPr>
          <p:cNvPr id="26" name="Text 24"/>
          <p:cNvSpPr/>
          <p:nvPr/>
        </p:nvSpPr>
        <p:spPr>
          <a:xfrm>
            <a:off x="3703320" y="4592046"/>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206240" y="4592046"/>
            <a:ext cx="1920240" cy="960120"/>
          </a:xfrm>
          <a:prstGeom prst="rect">
            <a:avLst/>
          </a:prstGeom>
          <a:noFill/>
          <a:ln/>
        </p:spPr>
        <p:txBody>
          <a:bodyPr wrap="square" rtlCol="0" anchor="ctr"/>
          <a:lstStyle/>
          <a:p>
            <a:pPr marL="0" indent="0">
              <a:lnSpc>
                <a:spcPct val="105000"/>
              </a:lnSpc>
              <a:buNone/>
            </a:pPr>
            <a:r>
              <a:rPr lang="en-US" sz="1400" dirty="0">
                <a:solidFill>
                  <a:srgbClr val="222831"/>
                </a:solidFill>
                <a:latin typeface="Calibri" pitchFamily="34" charset="0"/>
                <a:ea typeface="Calibri" pitchFamily="34" charset="-122"/>
                <a:cs typeface="Calibri" pitchFamily="34" charset="-120"/>
              </a:rPr>
              <a:t>Who’s actually responsible is unclear</a:t>
            </a:r>
            <a:endParaRPr lang="en-US" sz="1400" dirty="0"/>
          </a:p>
        </p:txBody>
      </p:sp>
      <p:sp>
        <p:nvSpPr>
          <p:cNvPr id="28" name="Shape 26"/>
          <p:cNvSpPr/>
          <p:nvPr/>
        </p:nvSpPr>
        <p:spPr>
          <a:xfrm>
            <a:off x="6492240" y="1435608"/>
            <a:ext cx="2697480" cy="1170432"/>
          </a:xfrm>
          <a:prstGeom prst="roundRect">
            <a:avLst>
              <a:gd name="adj" fmla="val 6250"/>
            </a:avLst>
          </a:prstGeom>
          <a:solidFill>
            <a:srgbClr val="F4F5F7"/>
          </a:solidFill>
          <a:ln/>
        </p:spPr>
        <p:txBody>
          <a:bodyPr/>
          <a:lstStyle/>
          <a:p>
            <a:endParaRPr lang="zh-CN" altLang="en-US"/>
          </a:p>
        </p:txBody>
      </p:sp>
      <p:sp>
        <p:nvSpPr>
          <p:cNvPr id="29" name="Shape 27"/>
          <p:cNvSpPr/>
          <p:nvPr/>
        </p:nvSpPr>
        <p:spPr>
          <a:xfrm>
            <a:off x="6629400" y="1572768"/>
            <a:ext cx="365760" cy="365760"/>
          </a:xfrm>
          <a:prstGeom prst="ellipse">
            <a:avLst/>
          </a:prstGeom>
          <a:solidFill>
            <a:srgbClr val="D9782D"/>
          </a:solidFill>
          <a:ln/>
        </p:spPr>
        <p:txBody>
          <a:bodyPr/>
          <a:lstStyle/>
          <a:p>
            <a:endParaRPr lang="zh-CN" altLang="en-US"/>
          </a:p>
        </p:txBody>
      </p:sp>
      <p:sp>
        <p:nvSpPr>
          <p:cNvPr id="30" name="Text 28"/>
          <p:cNvSpPr/>
          <p:nvPr/>
        </p:nvSpPr>
        <p:spPr>
          <a:xfrm>
            <a:off x="6629400" y="1572768"/>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7223760" y="1572768"/>
            <a:ext cx="1828800" cy="960120"/>
          </a:xfrm>
          <a:prstGeom prst="rect">
            <a:avLst/>
          </a:prstGeom>
          <a:noFill/>
          <a:ln/>
        </p:spPr>
        <p:txBody>
          <a:bodyPr wrap="square" rtlCol="0" anchor="ctr"/>
          <a:lstStyle/>
          <a:p>
            <a:pPr marL="0" indent="0">
              <a:lnSpc>
                <a:spcPct val="105000"/>
              </a:lnSpc>
              <a:buNone/>
            </a:pPr>
            <a:r>
              <a:rPr lang="en-US" sz="1400" dirty="0">
                <a:solidFill>
                  <a:srgbClr val="222831"/>
                </a:solidFill>
                <a:latin typeface="Calibri" pitchFamily="34" charset="0"/>
                <a:ea typeface="Calibri" pitchFamily="34" charset="-122"/>
                <a:cs typeface="Calibri" pitchFamily="34" charset="-120"/>
              </a:rPr>
              <a:t>Residents check status repeatedly, with no better information each time</a:t>
            </a:r>
            <a:endParaRPr lang="en-US" sz="1400" dirty="0"/>
          </a:p>
        </p:txBody>
      </p:sp>
      <p:sp>
        <p:nvSpPr>
          <p:cNvPr id="33" name="Text 31"/>
          <p:cNvSpPr/>
          <p:nvPr/>
        </p:nvSpPr>
        <p:spPr>
          <a:xfrm>
            <a:off x="6995160" y="356616"/>
            <a:ext cx="4892040" cy="729762"/>
          </a:xfrm>
          <a:prstGeom prst="rect">
            <a:avLst/>
          </a:prstGeom>
          <a:noFill/>
          <a:ln/>
        </p:spPr>
        <p:txBody>
          <a:bodyPr wrap="square" rtlCol="0" anchor="ctr"/>
          <a:lstStyle/>
          <a:p>
            <a:pPr>
              <a:lnSpc>
                <a:spcPct val="105000"/>
              </a:lnSpc>
            </a:pPr>
            <a:r>
              <a:rPr lang="en-US" altLang="zh-CN" sz="1600" b="1" i="1" dirty="0">
                <a:latin typeface="Cambria" pitchFamily="34" charset="0"/>
                <a:ea typeface="Cambria" pitchFamily="34" charset="-122"/>
                <a:cs typeface="Cambria" pitchFamily="34" charset="-120"/>
              </a:rPr>
              <a:t>The pain comes from the absence of visible status, a responsible party, and any expectation to hold onto.</a:t>
            </a:r>
            <a:endParaRPr lang="en-US" altLang="zh-CN" sz="1600" b="1" dirty="0"/>
          </a:p>
          <a:p>
            <a:pPr marL="0" indent="0">
              <a:lnSpc>
                <a:spcPct val="105000"/>
              </a:lnSpc>
              <a:buNone/>
            </a:pPr>
            <a:endParaRPr lang="en-US" sz="1100" dirty="0"/>
          </a:p>
        </p:txBody>
      </p:sp>
      <p:sp>
        <p:nvSpPr>
          <p:cNvPr id="35" name="Text 33"/>
          <p:cNvSpPr/>
          <p:nvPr/>
        </p:nvSpPr>
        <p:spPr>
          <a:xfrm>
            <a:off x="9646920" y="1702542"/>
            <a:ext cx="2194560" cy="274320"/>
          </a:xfrm>
          <a:prstGeom prst="rect">
            <a:avLst/>
          </a:prstGeom>
          <a:noFill/>
          <a:ln/>
        </p:spPr>
        <p:txBody>
          <a:bodyPr wrap="square" rtlCol="0" anchor="ctr"/>
          <a:lstStyle/>
          <a:p>
            <a:pPr marL="0" indent="0">
              <a:buNone/>
            </a:pPr>
            <a:endParaRPr lang="en-US" sz="1050" dirty="0"/>
          </a:p>
        </p:txBody>
      </p:sp>
      <p:sp>
        <p:nvSpPr>
          <p:cNvPr id="36" name="Text 34"/>
          <p:cNvSpPr/>
          <p:nvPr/>
        </p:nvSpPr>
        <p:spPr>
          <a:xfrm>
            <a:off x="6469711" y="2855742"/>
            <a:ext cx="3177209" cy="1325880"/>
          </a:xfrm>
          <a:prstGeom prst="rect">
            <a:avLst/>
          </a:prstGeom>
          <a:noFill/>
          <a:ln/>
        </p:spPr>
        <p:txBody>
          <a:bodyPr wrap="square" rtlCol="0" anchor="ctr"/>
          <a:lstStyle/>
          <a:p>
            <a:pPr marL="0" indent="0">
              <a:lnSpc>
                <a:spcPct val="125000"/>
              </a:lnSpc>
              <a:buNone/>
            </a:pPr>
            <a:endParaRPr lang="en-US" sz="1400" b="1" dirty="0"/>
          </a:p>
        </p:txBody>
      </p:sp>
      <p:sp>
        <p:nvSpPr>
          <p:cNvPr id="37" name="Text 35"/>
          <p:cNvSpPr/>
          <p:nvPr/>
        </p:nvSpPr>
        <p:spPr>
          <a:xfrm>
            <a:off x="7390638" y="4864608"/>
            <a:ext cx="3058668" cy="896112"/>
          </a:xfrm>
          <a:prstGeom prst="rect">
            <a:avLst/>
          </a:prstGeom>
          <a:noFill/>
          <a:ln/>
        </p:spPr>
        <p:txBody>
          <a:bodyPr wrap="square" rtlCol="0" anchor="ctr"/>
          <a:lstStyle/>
          <a:p>
            <a:pPr>
              <a:lnSpc>
                <a:spcPct val="120000"/>
              </a:lnSpc>
            </a:pPr>
            <a:r>
              <a:rPr lang="en-US" altLang="zh-CN" sz="2000" b="1" dirty="0">
                <a:solidFill>
                  <a:srgbClr val="00B0F0"/>
                </a:solidFill>
                <a:latin typeface="Calibri" pitchFamily="34" charset="0"/>
                <a:ea typeface="Calibri" pitchFamily="34" charset="-122"/>
                <a:cs typeface="Calibri" pitchFamily="34" charset="-120"/>
              </a:rPr>
              <a:t>The information and influence around the wait</a:t>
            </a:r>
            <a:endParaRPr lang="en-US" sz="2000" b="1" dirty="0">
              <a:solidFill>
                <a:srgbClr val="00B0F0"/>
              </a:solidFill>
            </a:endParaRPr>
          </a:p>
        </p:txBody>
      </p:sp>
      <p:sp>
        <p:nvSpPr>
          <p:cNvPr id="38" name="Text 3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39" name="Text 37"/>
          <p:cNvSpPr/>
          <p:nvPr/>
        </p:nvSpPr>
        <p:spPr>
          <a:xfrm>
            <a:off x="11576304" y="5059093"/>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4</a:t>
            </a:r>
            <a:endParaRPr lang="en-US" sz="900" dirty="0"/>
          </a:p>
        </p:txBody>
      </p:sp>
      <p:sp>
        <p:nvSpPr>
          <p:cNvPr id="40" name="文本框 39">
            <a:extLst>
              <a:ext uri="{FF2B5EF4-FFF2-40B4-BE49-F238E27FC236}">
                <a16:creationId xmlns:a16="http://schemas.microsoft.com/office/drawing/2014/main" id="{BB6E15E2-BA32-DACB-5271-ED7224CA490A}"/>
              </a:ext>
            </a:extLst>
          </p:cNvPr>
          <p:cNvSpPr txBox="1"/>
          <p:nvPr/>
        </p:nvSpPr>
        <p:spPr>
          <a:xfrm>
            <a:off x="7374172" y="3094238"/>
            <a:ext cx="3631096" cy="523220"/>
          </a:xfrm>
          <a:prstGeom prst="rect">
            <a:avLst/>
          </a:prstGeom>
          <a:noFill/>
        </p:spPr>
        <p:txBody>
          <a:bodyPr wrap="square" rtlCol="0">
            <a:spAutoFit/>
          </a:bodyPr>
          <a:lstStyle/>
          <a:p>
            <a:r>
              <a:rPr kumimoji="1" lang="en-US" altLang="zh-CN" sz="2800" dirty="0">
                <a:solidFill>
                  <a:srgbClr val="00B0F0"/>
                </a:solidFill>
                <a:latin typeface="Cambria" panose="02040503050406030204" pitchFamily="18" charset="0"/>
              </a:rPr>
              <a:t>Reframe FROM:</a:t>
            </a:r>
          </a:p>
        </p:txBody>
      </p:sp>
      <p:sp>
        <p:nvSpPr>
          <p:cNvPr id="41" name="文本框 40">
            <a:extLst>
              <a:ext uri="{FF2B5EF4-FFF2-40B4-BE49-F238E27FC236}">
                <a16:creationId xmlns:a16="http://schemas.microsoft.com/office/drawing/2014/main" id="{D3264656-36AA-CF55-6446-4D1BC4B3A593}"/>
              </a:ext>
            </a:extLst>
          </p:cNvPr>
          <p:cNvSpPr txBox="1"/>
          <p:nvPr/>
        </p:nvSpPr>
        <p:spPr>
          <a:xfrm>
            <a:off x="8138160" y="3639359"/>
            <a:ext cx="1665008" cy="584775"/>
          </a:xfrm>
          <a:prstGeom prst="rect">
            <a:avLst/>
          </a:prstGeom>
          <a:noFill/>
        </p:spPr>
        <p:txBody>
          <a:bodyPr wrap="none" rtlCol="0">
            <a:spAutoFit/>
          </a:bodyPr>
          <a:lstStyle/>
          <a:p>
            <a:r>
              <a:rPr kumimoji="1" lang="en-US" altLang="zh-CN" sz="3200" dirty="0"/>
              <a:t>Repair🔧</a:t>
            </a:r>
            <a:endParaRPr kumimoji="1" lang="zh-CN" altLang="en-US" sz="3200" dirty="0"/>
          </a:p>
        </p:txBody>
      </p:sp>
      <p:sp>
        <p:nvSpPr>
          <p:cNvPr id="44" name="文本框 43">
            <a:extLst>
              <a:ext uri="{FF2B5EF4-FFF2-40B4-BE49-F238E27FC236}">
                <a16:creationId xmlns:a16="http://schemas.microsoft.com/office/drawing/2014/main" id="{74121F0B-38F7-69D0-854B-ECF0B561C351}"/>
              </a:ext>
            </a:extLst>
          </p:cNvPr>
          <p:cNvSpPr txBox="1"/>
          <p:nvPr/>
        </p:nvSpPr>
        <p:spPr>
          <a:xfrm>
            <a:off x="8450485" y="4341388"/>
            <a:ext cx="739235" cy="523220"/>
          </a:xfrm>
          <a:prstGeom prst="rect">
            <a:avLst/>
          </a:prstGeom>
          <a:noFill/>
        </p:spPr>
        <p:txBody>
          <a:bodyPr wrap="square">
            <a:spAutoFit/>
          </a:bodyPr>
          <a:lstStyle/>
          <a:p>
            <a:r>
              <a:rPr kumimoji="1" lang="en-US" altLang="zh-CN" sz="2800" dirty="0">
                <a:solidFill>
                  <a:srgbClr val="00B0F0"/>
                </a:solidFill>
                <a:latin typeface="Cambria" panose="02040503050406030204" pitchFamily="18" charset="0"/>
              </a:rPr>
              <a:t>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2541"/>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Data Synthesis — Reframed Brief</a:t>
            </a:r>
            <a:endParaRPr lang="en-US" sz="2800" dirty="0"/>
          </a:p>
        </p:txBody>
      </p:sp>
      <p:sp>
        <p:nvSpPr>
          <p:cNvPr id="3" name="Text 1"/>
          <p:cNvSpPr/>
          <p:nvPr/>
        </p:nvSpPr>
        <p:spPr>
          <a:xfrm>
            <a:off x="640080" y="941832"/>
            <a:ext cx="9144000" cy="320040"/>
          </a:xfrm>
          <a:prstGeom prst="rect">
            <a:avLst/>
          </a:prstGeom>
          <a:noFill/>
          <a:ln/>
        </p:spPr>
        <p:txBody>
          <a:bodyPr wrap="square" rtlCol="0" anchor="ctr"/>
          <a:lstStyle/>
          <a:p>
            <a:pPr marL="0" indent="0">
              <a:buNone/>
            </a:pPr>
            <a:endParaRPr lang="en-US" sz="1300" dirty="0"/>
          </a:p>
        </p:txBody>
      </p:sp>
      <p:sp>
        <p:nvSpPr>
          <p:cNvPr id="5" name="Text 3"/>
          <p:cNvSpPr/>
          <p:nvPr/>
        </p:nvSpPr>
        <p:spPr>
          <a:xfrm>
            <a:off x="640080" y="1188720"/>
            <a:ext cx="5486400" cy="274320"/>
          </a:xfrm>
          <a:prstGeom prst="rect">
            <a:avLst/>
          </a:prstGeom>
          <a:noFill/>
          <a:ln/>
        </p:spPr>
        <p:txBody>
          <a:bodyPr wrap="square" rtlCol="0" anchor="ctr"/>
          <a:lstStyle/>
          <a:p>
            <a:pPr marL="0" indent="0">
              <a:buNone/>
            </a:pPr>
            <a:r>
              <a:rPr lang="en-US" sz="1400" b="1" kern="0" spc="150" dirty="0">
                <a:solidFill>
                  <a:srgbClr val="D9782D"/>
                </a:solidFill>
                <a:latin typeface="Calibri" pitchFamily="34" charset="0"/>
                <a:ea typeface="Calibri" pitchFamily="34" charset="-122"/>
                <a:cs typeface="Calibri" pitchFamily="34" charset="-120"/>
              </a:rPr>
              <a:t>OUR PROBLEM / OPPORTUNITY SPACE</a:t>
            </a:r>
            <a:endParaRPr lang="en-US" sz="1400" dirty="0"/>
          </a:p>
        </p:txBody>
      </p:sp>
      <p:sp>
        <p:nvSpPr>
          <p:cNvPr id="6" name="Text 4"/>
          <p:cNvSpPr/>
          <p:nvPr/>
        </p:nvSpPr>
        <p:spPr>
          <a:xfrm>
            <a:off x="602246" y="1641348"/>
            <a:ext cx="10332720" cy="1325880"/>
          </a:xfrm>
          <a:prstGeom prst="rect">
            <a:avLst/>
          </a:prstGeom>
          <a:noFill/>
          <a:ln/>
        </p:spPr>
        <p:txBody>
          <a:bodyPr wrap="square" rtlCol="0" anchor="ctr"/>
          <a:lstStyle/>
          <a:p>
            <a:pPr marL="0" indent="0">
              <a:lnSpc>
                <a:spcPct val="125000"/>
              </a:lnSpc>
              <a:buNone/>
            </a:pPr>
            <a:r>
              <a:rPr lang="en-US" sz="1600" i="1" dirty="0">
                <a:solidFill>
                  <a:srgbClr val="FFFFFF"/>
                </a:solidFill>
                <a:latin typeface="Cambria" pitchFamily="34" charset="0"/>
                <a:ea typeface="Cambria" pitchFamily="34" charset="-122"/>
                <a:cs typeface="Cambria" pitchFamily="34" charset="-120"/>
              </a:rPr>
              <a:t>Residents across student accommodation, social housing, and residents with access needs who report a shared-facility fault but cannot see its status, who is responsible, or when they’ll next hear anything, for the entire undefined period between reporting and resolution. Left without that visibility, residents either disengage and wait it out, or repeatedly chase a response that stays ambiguous — either way, the uncertainty disrupts their ability to plan the rest of their lives around it.</a:t>
            </a:r>
            <a:endParaRPr lang="en-US" sz="1600" dirty="0"/>
          </a:p>
        </p:txBody>
      </p:sp>
      <p:sp>
        <p:nvSpPr>
          <p:cNvPr id="7" name="Shape 5"/>
          <p:cNvSpPr/>
          <p:nvPr/>
        </p:nvSpPr>
        <p:spPr>
          <a:xfrm>
            <a:off x="640080" y="3520440"/>
            <a:ext cx="10881360" cy="1417320"/>
          </a:xfrm>
          <a:prstGeom prst="roundRect">
            <a:avLst>
              <a:gd name="adj" fmla="val 5161"/>
            </a:avLst>
          </a:prstGeom>
          <a:solidFill>
            <a:srgbClr val="D9782D"/>
          </a:solidFill>
          <a:ln/>
        </p:spPr>
        <p:txBody>
          <a:bodyPr/>
          <a:lstStyle/>
          <a:p>
            <a:endParaRPr lang="zh-CN" altLang="en-US"/>
          </a:p>
        </p:txBody>
      </p:sp>
      <p:sp>
        <p:nvSpPr>
          <p:cNvPr id="8" name="Text 6"/>
          <p:cNvSpPr/>
          <p:nvPr/>
        </p:nvSpPr>
        <p:spPr>
          <a:xfrm>
            <a:off x="914400" y="3639312"/>
            <a:ext cx="5486400" cy="256032"/>
          </a:xfrm>
          <a:prstGeom prst="rect">
            <a:avLst/>
          </a:prstGeom>
          <a:noFill/>
          <a:ln/>
        </p:spPr>
        <p:txBody>
          <a:bodyPr wrap="square" rtlCol="0" anchor="ctr"/>
          <a:lstStyle/>
          <a:p>
            <a:pPr marL="0" indent="0">
              <a:buNone/>
            </a:pPr>
            <a:r>
              <a:rPr lang="en-US" sz="1050" b="1" kern="0" spc="150" dirty="0">
                <a:solidFill>
                  <a:srgbClr val="141A30"/>
                </a:solidFill>
                <a:latin typeface="Calibri" pitchFamily="34" charset="0"/>
                <a:ea typeface="Calibri" pitchFamily="34" charset="-122"/>
                <a:cs typeface="Calibri" pitchFamily="34" charset="-120"/>
              </a:rPr>
              <a:t>HOW MIGHT WE</a:t>
            </a:r>
            <a:endParaRPr lang="en-US" sz="1050" dirty="0"/>
          </a:p>
        </p:txBody>
      </p:sp>
      <p:sp>
        <p:nvSpPr>
          <p:cNvPr id="9" name="Text 7"/>
          <p:cNvSpPr/>
          <p:nvPr/>
        </p:nvSpPr>
        <p:spPr>
          <a:xfrm>
            <a:off x="914400" y="3913632"/>
            <a:ext cx="10332720" cy="914400"/>
          </a:xfrm>
          <a:prstGeom prst="rect">
            <a:avLst/>
          </a:prstGeom>
          <a:noFill/>
          <a:ln/>
        </p:spPr>
        <p:txBody>
          <a:bodyPr wrap="square" rtlCol="0" anchor="ctr"/>
          <a:lstStyle/>
          <a:p>
            <a:pPr marL="0" indent="0">
              <a:lnSpc>
                <a:spcPct val="120000"/>
              </a:lnSpc>
              <a:buNone/>
            </a:pPr>
            <a:r>
              <a:rPr lang="en-US" sz="1700" b="1" dirty="0">
                <a:solidFill>
                  <a:srgbClr val="141A30"/>
                </a:solidFill>
                <a:latin typeface="Cambria" pitchFamily="34" charset="0"/>
                <a:ea typeface="Cambria" pitchFamily="34" charset="-122"/>
                <a:cs typeface="Cambria" pitchFamily="34" charset="-120"/>
              </a:rPr>
              <a:t>Make the status, timeline and responsible party of a reported issue visible — for residents who currently have no way to know where their case stands or who is acting on it?</a:t>
            </a:r>
            <a:endParaRPr lang="en-US" sz="1700" dirty="0"/>
          </a:p>
        </p:txBody>
      </p:sp>
      <p:sp>
        <p:nvSpPr>
          <p:cNvPr id="10" name="Shape 8"/>
          <p:cNvSpPr/>
          <p:nvPr/>
        </p:nvSpPr>
        <p:spPr>
          <a:xfrm>
            <a:off x="640080" y="5257800"/>
            <a:ext cx="502920" cy="502920"/>
          </a:xfrm>
          <a:prstGeom prst="ellipse">
            <a:avLst/>
          </a:prstGeom>
          <a:solidFill>
            <a:srgbClr val="D9782D"/>
          </a:solidFill>
          <a:ln/>
        </p:spPr>
        <p:txBody>
          <a:bodyPr/>
          <a:lstStyle/>
          <a:p>
            <a:endParaRPr lang="zh-CN" altLang="en-US"/>
          </a:p>
        </p:txBody>
      </p:sp>
      <p:pic>
        <p:nvPicPr>
          <p:cNvPr id="11" name="Image 0" descr="/Users/devonma/Desktop/9106/Assignment/A2b/build/icons/home.png"/>
          <p:cNvPicPr>
            <a:picLocks noChangeAspect="1"/>
          </p:cNvPicPr>
          <p:nvPr/>
        </p:nvPicPr>
        <p:blipFill>
          <a:blip r:embed="rId3"/>
          <a:stretch>
            <a:fillRect/>
          </a:stretch>
        </p:blipFill>
        <p:spPr>
          <a:xfrm>
            <a:off x="770839" y="5388559"/>
            <a:ext cx="241402" cy="241402"/>
          </a:xfrm>
          <a:prstGeom prst="rect">
            <a:avLst/>
          </a:prstGeom>
        </p:spPr>
      </p:pic>
      <p:sp>
        <p:nvSpPr>
          <p:cNvPr id="12" name="Text 9"/>
          <p:cNvSpPr/>
          <p:nvPr/>
        </p:nvSpPr>
        <p:spPr>
          <a:xfrm>
            <a:off x="1261872" y="5239512"/>
            <a:ext cx="329184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Residents</a:t>
            </a:r>
            <a:endParaRPr lang="en-US" sz="1250" dirty="0"/>
          </a:p>
        </p:txBody>
      </p:sp>
      <p:sp>
        <p:nvSpPr>
          <p:cNvPr id="13" name="Text 10"/>
          <p:cNvSpPr/>
          <p:nvPr/>
        </p:nvSpPr>
        <p:spPr>
          <a:xfrm>
            <a:off x="1261872" y="5504688"/>
            <a:ext cx="3291840" cy="274320"/>
          </a:xfrm>
          <a:prstGeom prst="rect">
            <a:avLst/>
          </a:prstGeom>
          <a:noFill/>
          <a:ln/>
        </p:spPr>
        <p:txBody>
          <a:bodyPr wrap="square" rtlCol="0" anchor="ctr"/>
          <a:lstStyle/>
          <a:p>
            <a:pPr marL="0" indent="0">
              <a:buNone/>
            </a:pPr>
            <a:r>
              <a:rPr lang="en-US" sz="1050" dirty="0">
                <a:solidFill>
                  <a:srgbClr val="CFE0E8"/>
                </a:solidFill>
                <a:latin typeface="Calibri" pitchFamily="34" charset="0"/>
                <a:ea typeface="Calibri" pitchFamily="34" charset="-122"/>
                <a:cs typeface="Calibri" pitchFamily="34" charset="-120"/>
              </a:rPr>
              <a:t>who wait</a:t>
            </a:r>
            <a:endParaRPr lang="en-US" sz="1050" dirty="0"/>
          </a:p>
        </p:txBody>
      </p:sp>
      <p:sp>
        <p:nvSpPr>
          <p:cNvPr id="14" name="Shape 11"/>
          <p:cNvSpPr/>
          <p:nvPr/>
        </p:nvSpPr>
        <p:spPr>
          <a:xfrm>
            <a:off x="4846320" y="5257800"/>
            <a:ext cx="502920" cy="502920"/>
          </a:xfrm>
          <a:prstGeom prst="ellipse">
            <a:avLst/>
          </a:prstGeom>
          <a:solidFill>
            <a:srgbClr val="D9782D"/>
          </a:solidFill>
          <a:ln/>
        </p:spPr>
        <p:txBody>
          <a:bodyPr/>
          <a:lstStyle/>
          <a:p>
            <a:endParaRPr lang="zh-CN" altLang="en-US"/>
          </a:p>
        </p:txBody>
      </p:sp>
      <p:pic>
        <p:nvPicPr>
          <p:cNvPr id="15" name="Image 1" descr="/Users/devonma/Desktop/9106/Assignment/A2b/build/icons/key.png"/>
          <p:cNvPicPr>
            <a:picLocks noChangeAspect="1"/>
          </p:cNvPicPr>
          <p:nvPr/>
        </p:nvPicPr>
        <p:blipFill>
          <a:blip r:embed="rId4"/>
          <a:stretch>
            <a:fillRect/>
          </a:stretch>
        </p:blipFill>
        <p:spPr>
          <a:xfrm>
            <a:off x="4977079" y="5388559"/>
            <a:ext cx="241402" cy="241402"/>
          </a:xfrm>
          <a:prstGeom prst="rect">
            <a:avLst/>
          </a:prstGeom>
        </p:spPr>
      </p:pic>
      <p:sp>
        <p:nvSpPr>
          <p:cNvPr id="16" name="Text 12"/>
          <p:cNvSpPr/>
          <p:nvPr/>
        </p:nvSpPr>
        <p:spPr>
          <a:xfrm>
            <a:off x="5468112" y="5239512"/>
            <a:ext cx="329184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Building management / landlord</a:t>
            </a:r>
            <a:endParaRPr lang="en-US" sz="1250" dirty="0"/>
          </a:p>
        </p:txBody>
      </p:sp>
      <p:sp>
        <p:nvSpPr>
          <p:cNvPr id="17" name="Text 13"/>
          <p:cNvSpPr/>
          <p:nvPr/>
        </p:nvSpPr>
        <p:spPr>
          <a:xfrm>
            <a:off x="5468112" y="5504688"/>
            <a:ext cx="3291840" cy="274320"/>
          </a:xfrm>
          <a:prstGeom prst="rect">
            <a:avLst/>
          </a:prstGeom>
          <a:noFill/>
          <a:ln/>
        </p:spPr>
        <p:txBody>
          <a:bodyPr wrap="square" rtlCol="0" anchor="ctr"/>
          <a:lstStyle/>
          <a:p>
            <a:pPr marL="0" indent="0">
              <a:buNone/>
            </a:pPr>
            <a:r>
              <a:rPr lang="en-US" sz="1050" dirty="0">
                <a:solidFill>
                  <a:srgbClr val="CFE0E8"/>
                </a:solidFill>
                <a:latin typeface="Calibri" pitchFamily="34" charset="0"/>
                <a:ea typeface="Calibri" pitchFamily="34" charset="-122"/>
                <a:cs typeface="Calibri" pitchFamily="34" charset="-120"/>
              </a:rPr>
              <a:t>who control the sequence</a:t>
            </a:r>
            <a:endParaRPr lang="en-US" sz="1050" dirty="0"/>
          </a:p>
        </p:txBody>
      </p:sp>
      <p:sp>
        <p:nvSpPr>
          <p:cNvPr id="18" name="Text 14"/>
          <p:cNvSpPr/>
          <p:nvPr/>
        </p:nvSpPr>
        <p:spPr>
          <a:xfrm>
            <a:off x="640080" y="5989320"/>
            <a:ext cx="10607040" cy="365760"/>
          </a:xfrm>
          <a:prstGeom prst="rect">
            <a:avLst/>
          </a:prstGeom>
          <a:noFill/>
          <a:ln/>
        </p:spPr>
        <p:txBody>
          <a:bodyPr wrap="square" rtlCol="0" anchor="ctr"/>
          <a:lstStyle/>
          <a:p>
            <a:pPr marL="0" indent="0">
              <a:buNone/>
            </a:pPr>
            <a:r>
              <a:rPr lang="en-US" sz="1050" i="1" dirty="0">
                <a:solidFill>
                  <a:srgbClr val="8894A8"/>
                </a:solidFill>
                <a:latin typeface="Calibri" pitchFamily="34" charset="0"/>
                <a:ea typeface="Calibri" pitchFamily="34" charset="-122"/>
                <a:cs typeface="Calibri" pitchFamily="34" charset="-120"/>
              </a:rPr>
              <a:t>Capacity stays fixed — we’re redesigning the information and influence around the wait, not the repair itself.</a:t>
            </a:r>
            <a:endParaRPr lang="en-US" sz="1050" dirty="0"/>
          </a:p>
        </p:txBody>
      </p:sp>
      <p:sp>
        <p:nvSpPr>
          <p:cNvPr id="19" name="Text 15"/>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8894A8"/>
                </a:solidFill>
                <a:latin typeface="Calibri" pitchFamily="34" charset="0"/>
                <a:ea typeface="Calibri" pitchFamily="34" charset="-122"/>
                <a:cs typeface="Calibri" pitchFamily="34" charset="-120"/>
              </a:rPr>
              <a:t>RhodesReg · IDEA9106 A2b Progress Presentation</a:t>
            </a:r>
            <a:endParaRPr lang="en-US" sz="900" dirty="0"/>
          </a:p>
        </p:txBody>
      </p:sp>
      <p:sp>
        <p:nvSpPr>
          <p:cNvPr id="20" name="Text 16"/>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894A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02920"/>
          </a:xfrm>
          <a:prstGeom prst="rect">
            <a:avLst/>
          </a:prstGeom>
          <a:noFill/>
          <a:ln/>
        </p:spPr>
        <p:txBody>
          <a:bodyPr wrap="square" rtlCol="0" anchor="ctr"/>
          <a:lstStyle/>
          <a:p>
            <a:pPr marL="0" indent="0">
              <a:buNone/>
            </a:pPr>
            <a:r>
              <a:rPr lang="en-US" sz="2800" b="1" dirty="0">
                <a:solidFill>
                  <a:srgbClr val="1C2541"/>
                </a:solidFill>
                <a:latin typeface="Cambria" pitchFamily="34" charset="0"/>
                <a:ea typeface="Cambria" pitchFamily="34" charset="-122"/>
                <a:cs typeface="Cambria" pitchFamily="34" charset="-120"/>
              </a:rPr>
              <a:t>Proposed Solution</a:t>
            </a:r>
            <a:endParaRPr lang="en-US" sz="2800" dirty="0"/>
          </a:p>
        </p:txBody>
      </p:sp>
      <p:sp>
        <p:nvSpPr>
          <p:cNvPr id="3" name="Text 1"/>
          <p:cNvSpPr/>
          <p:nvPr/>
        </p:nvSpPr>
        <p:spPr>
          <a:xfrm>
            <a:off x="640080" y="932688"/>
            <a:ext cx="7315200" cy="32004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How we went from many ideas to one direction</a:t>
            </a:r>
            <a:endParaRPr lang="en-US" sz="1300" dirty="0"/>
          </a:p>
        </p:txBody>
      </p:sp>
      <p:sp>
        <p:nvSpPr>
          <p:cNvPr id="4" name="Shape 2"/>
          <p:cNvSpPr/>
          <p:nvPr/>
        </p:nvSpPr>
        <p:spPr>
          <a:xfrm>
            <a:off x="640080" y="1508760"/>
            <a:ext cx="548640" cy="548640"/>
          </a:xfrm>
          <a:prstGeom prst="ellipse">
            <a:avLst/>
          </a:prstGeom>
          <a:solidFill>
            <a:srgbClr val="1C2541"/>
          </a:solidFill>
          <a:ln/>
        </p:spPr>
        <p:txBody>
          <a:bodyPr/>
          <a:lstStyle/>
          <a:p>
            <a:endParaRPr lang="zh-CN" altLang="en-US"/>
          </a:p>
        </p:txBody>
      </p:sp>
      <p:pic>
        <p:nvPicPr>
          <p:cNvPr id="5" name="Image 0" descr="/Users/devonma/Desktop/9106/Assignment/A2b/build/icons/target.png"/>
          <p:cNvPicPr>
            <a:picLocks noChangeAspect="1"/>
          </p:cNvPicPr>
          <p:nvPr/>
        </p:nvPicPr>
        <p:blipFill>
          <a:blip r:embed="rId3"/>
          <a:stretch>
            <a:fillRect/>
          </a:stretch>
        </p:blipFill>
        <p:spPr>
          <a:xfrm>
            <a:off x="782726" y="1651406"/>
            <a:ext cx="263347" cy="263347"/>
          </a:xfrm>
          <a:prstGeom prst="rect">
            <a:avLst/>
          </a:prstGeom>
        </p:spPr>
      </p:pic>
      <p:sp>
        <p:nvSpPr>
          <p:cNvPr id="6" name="Text 3"/>
          <p:cNvSpPr/>
          <p:nvPr/>
        </p:nvSpPr>
        <p:spPr>
          <a:xfrm>
            <a:off x="1371600" y="1536192"/>
            <a:ext cx="9144000" cy="320040"/>
          </a:xfrm>
          <a:prstGeom prst="rect">
            <a:avLst/>
          </a:prstGeom>
          <a:noFill/>
          <a:ln/>
        </p:spPr>
        <p:txBody>
          <a:bodyPr wrap="square" rtlCol="0" anchor="ctr"/>
          <a:lstStyle/>
          <a:p>
            <a:pPr marL="0" indent="0">
              <a:buNone/>
            </a:pPr>
            <a:r>
              <a:rPr lang="en-US" sz="1550" b="1" dirty="0">
                <a:solidFill>
                  <a:srgbClr val="1C2541"/>
                </a:solidFill>
                <a:latin typeface="Calibri" pitchFamily="34" charset="0"/>
                <a:ea typeface="Calibri" pitchFamily="34" charset="-122"/>
                <a:cs typeface="Calibri" pitchFamily="34" charset="-120"/>
              </a:rPr>
              <a:t>Method: Brainwriting 6-3-5</a:t>
            </a:r>
            <a:endParaRPr lang="en-US" sz="1550" dirty="0"/>
          </a:p>
        </p:txBody>
      </p:sp>
      <p:sp>
        <p:nvSpPr>
          <p:cNvPr id="7" name="Text 4"/>
          <p:cNvSpPr/>
          <p:nvPr/>
        </p:nvSpPr>
        <p:spPr>
          <a:xfrm>
            <a:off x="1371600" y="1901952"/>
            <a:ext cx="10058400" cy="594360"/>
          </a:xfrm>
          <a:prstGeom prst="rect">
            <a:avLst/>
          </a:prstGeom>
          <a:noFill/>
          <a:ln/>
        </p:spPr>
        <p:txBody>
          <a:bodyPr wrap="square" rtlCol="0" anchor="ctr"/>
          <a:lstStyle/>
          <a:p>
            <a:pPr marL="0" indent="0">
              <a:lnSpc>
                <a:spcPct val="115000"/>
              </a:lnSpc>
              <a:buNone/>
            </a:pPr>
            <a:r>
              <a:rPr lang="en-US" sz="1150" dirty="0">
                <a:solidFill>
                  <a:srgbClr val="222831"/>
                </a:solidFill>
                <a:latin typeface="Calibri" pitchFamily="34" charset="0"/>
                <a:ea typeface="Calibri" pitchFamily="34" charset="-122"/>
                <a:cs typeface="Calibri" pitchFamily="34" charset="-120"/>
              </a:rPr>
              <a:t>Chosen because reporting-and-waiting is something every team member has experienced differently. Silent, parallel writing meant no one’s first idea anchored the group — every round built on what was already on the page.</a:t>
            </a:r>
            <a:endParaRPr lang="en-US" sz="1150" dirty="0"/>
          </a:p>
        </p:txBody>
      </p:sp>
      <p:sp>
        <p:nvSpPr>
          <p:cNvPr id="8" name="Text 5"/>
          <p:cNvSpPr/>
          <p:nvPr/>
        </p:nvSpPr>
        <p:spPr>
          <a:xfrm>
            <a:off x="640080" y="2697480"/>
            <a:ext cx="7315200" cy="274320"/>
          </a:xfrm>
          <a:prstGeom prst="rect">
            <a:avLst/>
          </a:prstGeom>
          <a:noFill/>
          <a:ln/>
        </p:spPr>
        <p:txBody>
          <a:bodyPr wrap="square" rtlCol="0" anchor="ctr"/>
          <a:lstStyle/>
          <a:p>
            <a:pPr marL="0" indent="0">
              <a:buNone/>
            </a:pPr>
            <a:r>
              <a:rPr lang="en-US" sz="1100" b="1" kern="0" spc="100" dirty="0">
                <a:solidFill>
                  <a:srgbClr val="5B6472"/>
                </a:solidFill>
                <a:latin typeface="Calibri" pitchFamily="34" charset="0"/>
                <a:ea typeface="Calibri" pitchFamily="34" charset="-122"/>
                <a:cs typeface="Calibri" pitchFamily="34" charset="-120"/>
              </a:rPr>
              <a:t>IDEAS CLUSTERED INTO THREE DIRECTIONS</a:t>
            </a:r>
            <a:endParaRPr lang="en-US" sz="1100" dirty="0"/>
          </a:p>
        </p:txBody>
      </p:sp>
      <p:sp>
        <p:nvSpPr>
          <p:cNvPr id="9" name="Shape 6"/>
          <p:cNvSpPr/>
          <p:nvPr/>
        </p:nvSpPr>
        <p:spPr>
          <a:xfrm>
            <a:off x="640080" y="3063240"/>
            <a:ext cx="3429000" cy="2331720"/>
          </a:xfrm>
          <a:prstGeom prst="roundRect">
            <a:avLst>
              <a:gd name="adj" fmla="val 3922"/>
            </a:avLst>
          </a:prstGeom>
          <a:solidFill>
            <a:srgbClr val="1C2541"/>
          </a:solidFill>
          <a:ln/>
        </p:spPr>
        <p:txBody>
          <a:bodyPr/>
          <a:lstStyle/>
          <a:p>
            <a:endParaRPr lang="zh-CN" altLang="en-US"/>
          </a:p>
        </p:txBody>
      </p:sp>
      <p:sp>
        <p:nvSpPr>
          <p:cNvPr id="10" name="Shape 7"/>
          <p:cNvSpPr/>
          <p:nvPr/>
        </p:nvSpPr>
        <p:spPr>
          <a:xfrm>
            <a:off x="914400" y="3337560"/>
            <a:ext cx="502920" cy="502920"/>
          </a:xfrm>
          <a:prstGeom prst="ellipse">
            <a:avLst/>
          </a:prstGeom>
          <a:solidFill>
            <a:srgbClr val="D9782D"/>
          </a:solidFill>
          <a:ln/>
        </p:spPr>
        <p:txBody>
          <a:bodyPr/>
          <a:lstStyle/>
          <a:p>
            <a:endParaRPr lang="zh-CN" altLang="en-US"/>
          </a:p>
        </p:txBody>
      </p:sp>
      <p:pic>
        <p:nvPicPr>
          <p:cNvPr id="11" name="Image 1" descr="/Users/devonma/Desktop/9106/Assignment/A2b/build/icons/eye.png"/>
          <p:cNvPicPr>
            <a:picLocks noChangeAspect="1"/>
          </p:cNvPicPr>
          <p:nvPr/>
        </p:nvPicPr>
        <p:blipFill>
          <a:blip r:embed="rId4"/>
          <a:stretch>
            <a:fillRect/>
          </a:stretch>
        </p:blipFill>
        <p:spPr>
          <a:xfrm>
            <a:off x="1045159" y="3468319"/>
            <a:ext cx="241402" cy="241402"/>
          </a:xfrm>
          <a:prstGeom prst="rect">
            <a:avLst/>
          </a:prstGeom>
        </p:spPr>
      </p:pic>
      <p:sp>
        <p:nvSpPr>
          <p:cNvPr id="12" name="Text 8"/>
          <p:cNvSpPr/>
          <p:nvPr/>
        </p:nvSpPr>
        <p:spPr>
          <a:xfrm>
            <a:off x="914400" y="3977640"/>
            <a:ext cx="2880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Visibility</a:t>
            </a:r>
            <a:endParaRPr lang="en-US" sz="1500" dirty="0"/>
          </a:p>
        </p:txBody>
      </p:sp>
      <p:sp>
        <p:nvSpPr>
          <p:cNvPr id="13" name="Text 9"/>
          <p:cNvSpPr/>
          <p:nvPr/>
        </p:nvSpPr>
        <p:spPr>
          <a:xfrm>
            <a:off x="914400" y="4361688"/>
            <a:ext cx="2880360" cy="548640"/>
          </a:xfrm>
          <a:prstGeom prst="rect">
            <a:avLst/>
          </a:prstGeom>
          <a:noFill/>
          <a:ln/>
        </p:spPr>
        <p:txBody>
          <a:bodyPr wrap="square" rtlCol="0" anchor="ctr"/>
          <a:lstStyle/>
          <a:p>
            <a:pPr marL="0" indent="0">
              <a:lnSpc>
                <a:spcPct val="110000"/>
              </a:lnSpc>
              <a:buNone/>
            </a:pPr>
            <a:r>
              <a:rPr lang="en-US" sz="1100" dirty="0">
                <a:solidFill>
                  <a:srgbClr val="CFE0E8"/>
                </a:solidFill>
                <a:latin typeface="Calibri" pitchFamily="34" charset="0"/>
                <a:ea typeface="Calibri" pitchFamily="34" charset="-122"/>
                <a:cs typeface="Calibri" pitchFamily="34" charset="-120"/>
              </a:rPr>
              <a:t>Make status visible to residents.</a:t>
            </a:r>
            <a:endParaRPr lang="en-US" sz="1100" dirty="0"/>
          </a:p>
        </p:txBody>
      </p:sp>
      <p:sp>
        <p:nvSpPr>
          <p:cNvPr id="14" name="Text 10"/>
          <p:cNvSpPr/>
          <p:nvPr/>
        </p:nvSpPr>
        <p:spPr>
          <a:xfrm>
            <a:off x="914400" y="4965192"/>
            <a:ext cx="2880360" cy="320040"/>
          </a:xfrm>
          <a:prstGeom prst="rect">
            <a:avLst/>
          </a:prstGeom>
          <a:noFill/>
          <a:ln/>
        </p:spPr>
        <p:txBody>
          <a:bodyPr wrap="square" rtlCol="0" anchor="ctr"/>
          <a:lstStyle/>
          <a:p>
            <a:pPr marL="0" indent="0">
              <a:buNone/>
            </a:pPr>
            <a:r>
              <a:rPr lang="en-US" sz="950" b="1" kern="0" spc="50" dirty="0">
                <a:solidFill>
                  <a:srgbClr val="D9782D"/>
                </a:solidFill>
                <a:latin typeface="Calibri" pitchFamily="34" charset="0"/>
                <a:ea typeface="Calibri" pitchFamily="34" charset="-122"/>
                <a:cs typeface="Calibri" pitchFamily="34" charset="-120"/>
              </a:rPr>
              <a:t>✓ DEVELOPED NOW</a:t>
            </a:r>
            <a:endParaRPr lang="en-US" sz="950" dirty="0"/>
          </a:p>
        </p:txBody>
      </p:sp>
      <p:sp>
        <p:nvSpPr>
          <p:cNvPr id="15" name="Shape 11"/>
          <p:cNvSpPr/>
          <p:nvPr/>
        </p:nvSpPr>
        <p:spPr>
          <a:xfrm>
            <a:off x="4297680" y="3063240"/>
            <a:ext cx="3429000" cy="2331720"/>
          </a:xfrm>
          <a:prstGeom prst="roundRect">
            <a:avLst>
              <a:gd name="adj" fmla="val 3922"/>
            </a:avLst>
          </a:prstGeom>
          <a:solidFill>
            <a:srgbClr val="1C2541"/>
          </a:solidFill>
          <a:ln/>
        </p:spPr>
        <p:txBody>
          <a:bodyPr/>
          <a:lstStyle/>
          <a:p>
            <a:endParaRPr lang="zh-CN" altLang="en-US"/>
          </a:p>
        </p:txBody>
      </p:sp>
      <p:sp>
        <p:nvSpPr>
          <p:cNvPr id="16" name="Shape 12"/>
          <p:cNvSpPr/>
          <p:nvPr/>
        </p:nvSpPr>
        <p:spPr>
          <a:xfrm>
            <a:off x="4572000" y="3337560"/>
            <a:ext cx="502920" cy="502920"/>
          </a:xfrm>
          <a:prstGeom prst="ellipse">
            <a:avLst/>
          </a:prstGeom>
          <a:solidFill>
            <a:srgbClr val="D9782D"/>
          </a:solidFill>
          <a:ln/>
        </p:spPr>
        <p:txBody>
          <a:bodyPr/>
          <a:lstStyle/>
          <a:p>
            <a:endParaRPr lang="zh-CN" altLang="en-US"/>
          </a:p>
        </p:txBody>
      </p:sp>
      <p:pic>
        <p:nvPicPr>
          <p:cNvPr id="17" name="Image 2" descr="/Users/devonma/Desktop/9106/Assignment/A2b/build/icons/message.png"/>
          <p:cNvPicPr>
            <a:picLocks noChangeAspect="1"/>
          </p:cNvPicPr>
          <p:nvPr/>
        </p:nvPicPr>
        <p:blipFill>
          <a:blip r:embed="rId5"/>
          <a:stretch>
            <a:fillRect/>
          </a:stretch>
        </p:blipFill>
        <p:spPr>
          <a:xfrm>
            <a:off x="4702759" y="3468319"/>
            <a:ext cx="241402" cy="241402"/>
          </a:xfrm>
          <a:prstGeom prst="rect">
            <a:avLst/>
          </a:prstGeom>
        </p:spPr>
      </p:pic>
      <p:sp>
        <p:nvSpPr>
          <p:cNvPr id="18" name="Text 13"/>
          <p:cNvSpPr/>
          <p:nvPr/>
        </p:nvSpPr>
        <p:spPr>
          <a:xfrm>
            <a:off x="4572000" y="3977640"/>
            <a:ext cx="288036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Communication</a:t>
            </a:r>
            <a:endParaRPr lang="en-US" sz="1500" dirty="0"/>
          </a:p>
        </p:txBody>
      </p:sp>
      <p:sp>
        <p:nvSpPr>
          <p:cNvPr id="19" name="Text 14"/>
          <p:cNvSpPr/>
          <p:nvPr/>
        </p:nvSpPr>
        <p:spPr>
          <a:xfrm>
            <a:off x="4572000" y="4361688"/>
            <a:ext cx="2880360" cy="548640"/>
          </a:xfrm>
          <a:prstGeom prst="rect">
            <a:avLst/>
          </a:prstGeom>
          <a:noFill/>
          <a:ln/>
        </p:spPr>
        <p:txBody>
          <a:bodyPr wrap="square" rtlCol="0" anchor="ctr"/>
          <a:lstStyle/>
          <a:p>
            <a:pPr marL="0" indent="0">
              <a:lnSpc>
                <a:spcPct val="110000"/>
              </a:lnSpc>
              <a:buNone/>
            </a:pPr>
            <a:r>
              <a:rPr lang="en-US" sz="1100" dirty="0">
                <a:solidFill>
                  <a:srgbClr val="CFE0E8"/>
                </a:solidFill>
                <a:latin typeface="Calibri" pitchFamily="34" charset="0"/>
                <a:ea typeface="Calibri" pitchFamily="34" charset="-122"/>
                <a:cs typeface="Calibri" pitchFamily="34" charset="-120"/>
              </a:rPr>
              <a:t>Guarantee a defined reply.</a:t>
            </a:r>
            <a:endParaRPr lang="en-US" sz="1100" dirty="0"/>
          </a:p>
        </p:txBody>
      </p:sp>
      <p:sp>
        <p:nvSpPr>
          <p:cNvPr id="20" name="Text 15"/>
          <p:cNvSpPr/>
          <p:nvPr/>
        </p:nvSpPr>
        <p:spPr>
          <a:xfrm>
            <a:off x="4572000" y="4965192"/>
            <a:ext cx="2880360" cy="320040"/>
          </a:xfrm>
          <a:prstGeom prst="rect">
            <a:avLst/>
          </a:prstGeom>
          <a:noFill/>
          <a:ln/>
        </p:spPr>
        <p:txBody>
          <a:bodyPr wrap="square" rtlCol="0" anchor="ctr"/>
          <a:lstStyle/>
          <a:p>
            <a:pPr marL="0" indent="0">
              <a:buNone/>
            </a:pPr>
            <a:r>
              <a:rPr lang="en-US" sz="950" b="1" kern="0" spc="50" dirty="0">
                <a:solidFill>
                  <a:srgbClr val="D9782D"/>
                </a:solidFill>
                <a:latin typeface="Calibri" pitchFamily="34" charset="0"/>
                <a:ea typeface="Calibri" pitchFamily="34" charset="-122"/>
                <a:cs typeface="Calibri" pitchFamily="34" charset="-120"/>
              </a:rPr>
              <a:t>✓ DEVELOPED NOW</a:t>
            </a:r>
            <a:endParaRPr lang="en-US" sz="950" dirty="0"/>
          </a:p>
        </p:txBody>
      </p:sp>
      <p:sp>
        <p:nvSpPr>
          <p:cNvPr id="21" name="Shape 16"/>
          <p:cNvSpPr/>
          <p:nvPr/>
        </p:nvSpPr>
        <p:spPr>
          <a:xfrm>
            <a:off x="7955280" y="3063240"/>
            <a:ext cx="3429000" cy="2331720"/>
          </a:xfrm>
          <a:prstGeom prst="roundRect">
            <a:avLst>
              <a:gd name="adj" fmla="val 3922"/>
            </a:avLst>
          </a:prstGeom>
          <a:solidFill>
            <a:srgbClr val="F4F5F7"/>
          </a:solidFill>
          <a:ln/>
        </p:spPr>
        <p:txBody>
          <a:bodyPr/>
          <a:lstStyle/>
          <a:p>
            <a:endParaRPr lang="zh-CN" altLang="en-US"/>
          </a:p>
        </p:txBody>
      </p:sp>
      <p:sp>
        <p:nvSpPr>
          <p:cNvPr id="22" name="Shape 17"/>
          <p:cNvSpPr/>
          <p:nvPr/>
        </p:nvSpPr>
        <p:spPr>
          <a:xfrm>
            <a:off x="8229600" y="3337560"/>
            <a:ext cx="502920" cy="502920"/>
          </a:xfrm>
          <a:prstGeom prst="ellipse">
            <a:avLst/>
          </a:prstGeom>
          <a:solidFill>
            <a:srgbClr val="5C7A99"/>
          </a:solidFill>
          <a:ln/>
        </p:spPr>
        <p:txBody>
          <a:bodyPr/>
          <a:lstStyle/>
          <a:p>
            <a:endParaRPr lang="zh-CN" altLang="en-US"/>
          </a:p>
        </p:txBody>
      </p:sp>
      <p:pic>
        <p:nvPicPr>
          <p:cNvPr id="23" name="Image 3" descr="/Users/devonma/Desktop/9106/Assignment/A2b/build/icons/shuffle.png"/>
          <p:cNvPicPr>
            <a:picLocks noChangeAspect="1"/>
          </p:cNvPicPr>
          <p:nvPr/>
        </p:nvPicPr>
        <p:blipFill>
          <a:blip r:embed="rId6"/>
          <a:stretch>
            <a:fillRect/>
          </a:stretch>
        </p:blipFill>
        <p:spPr>
          <a:xfrm>
            <a:off x="8360359" y="3468319"/>
            <a:ext cx="241402" cy="241402"/>
          </a:xfrm>
          <a:prstGeom prst="rect">
            <a:avLst/>
          </a:prstGeom>
        </p:spPr>
      </p:pic>
      <p:sp>
        <p:nvSpPr>
          <p:cNvPr id="24" name="Text 18"/>
          <p:cNvSpPr/>
          <p:nvPr/>
        </p:nvSpPr>
        <p:spPr>
          <a:xfrm>
            <a:off x="8229600" y="3977640"/>
            <a:ext cx="2880360" cy="365760"/>
          </a:xfrm>
          <a:prstGeom prst="rect">
            <a:avLst/>
          </a:prstGeom>
          <a:noFill/>
          <a:ln/>
        </p:spPr>
        <p:txBody>
          <a:bodyPr wrap="square" rtlCol="0" anchor="ctr"/>
          <a:lstStyle/>
          <a:p>
            <a:pPr marL="0" indent="0">
              <a:buNone/>
            </a:pPr>
            <a:r>
              <a:rPr lang="en-US" sz="1500" b="1" dirty="0">
                <a:solidFill>
                  <a:srgbClr val="1C2541"/>
                </a:solidFill>
                <a:latin typeface="Calibri" pitchFamily="34" charset="0"/>
                <a:ea typeface="Calibri" pitchFamily="34" charset="-122"/>
                <a:cs typeface="Calibri" pitchFamily="34" charset="-120"/>
              </a:rPr>
              <a:t>Scheduling influence</a:t>
            </a:r>
            <a:endParaRPr lang="en-US" sz="1500" dirty="0"/>
          </a:p>
        </p:txBody>
      </p:sp>
      <p:sp>
        <p:nvSpPr>
          <p:cNvPr id="25" name="Text 19"/>
          <p:cNvSpPr/>
          <p:nvPr/>
        </p:nvSpPr>
        <p:spPr>
          <a:xfrm>
            <a:off x="8229600" y="4361688"/>
            <a:ext cx="2880360" cy="548640"/>
          </a:xfrm>
          <a:prstGeom prst="rect">
            <a:avLst/>
          </a:prstGeom>
          <a:noFill/>
          <a:ln/>
        </p:spPr>
        <p:txBody>
          <a:bodyPr wrap="square" rtlCol="0" anchor="ctr"/>
          <a:lstStyle/>
          <a:p>
            <a:pPr marL="0" indent="0">
              <a:lnSpc>
                <a:spcPct val="110000"/>
              </a:lnSpc>
              <a:buNone/>
            </a:pPr>
            <a:r>
              <a:rPr lang="en-US" sz="1100" dirty="0">
                <a:solidFill>
                  <a:srgbClr val="5B6472"/>
                </a:solidFill>
                <a:latin typeface="Calibri" pitchFamily="34" charset="0"/>
                <a:ea typeface="Calibri" pitchFamily="34" charset="-122"/>
                <a:cs typeface="Calibri" pitchFamily="34" charset="-120"/>
              </a:rPr>
              <a:t>Let residents affect order.</a:t>
            </a:r>
            <a:endParaRPr lang="en-US" sz="1100" dirty="0"/>
          </a:p>
        </p:txBody>
      </p:sp>
      <p:sp>
        <p:nvSpPr>
          <p:cNvPr id="26" name="Text 20"/>
          <p:cNvSpPr/>
          <p:nvPr/>
        </p:nvSpPr>
        <p:spPr>
          <a:xfrm>
            <a:off x="8229600" y="4965192"/>
            <a:ext cx="2880360" cy="320040"/>
          </a:xfrm>
          <a:prstGeom prst="rect">
            <a:avLst/>
          </a:prstGeom>
          <a:noFill/>
          <a:ln/>
        </p:spPr>
        <p:txBody>
          <a:bodyPr wrap="square" rtlCol="0" anchor="ctr"/>
          <a:lstStyle/>
          <a:p>
            <a:pPr marL="0" indent="0">
              <a:buNone/>
            </a:pPr>
            <a:r>
              <a:rPr lang="en-US" sz="950" b="1" kern="0" spc="50" dirty="0">
                <a:solidFill>
                  <a:srgbClr val="5B6472"/>
                </a:solidFill>
                <a:latin typeface="Calibri" pitchFamily="34" charset="0"/>
                <a:ea typeface="Calibri" pitchFamily="34" charset="-122"/>
                <a:cs typeface="Calibri" pitchFamily="34" charset="-120"/>
              </a:rPr>
              <a:t>FUTURE EXTENSION</a:t>
            </a:r>
            <a:endParaRPr lang="en-US" sz="950" dirty="0"/>
          </a:p>
        </p:txBody>
      </p:sp>
      <p:sp>
        <p:nvSpPr>
          <p:cNvPr id="27" name="Text 21"/>
          <p:cNvSpPr/>
          <p:nvPr/>
        </p:nvSpPr>
        <p:spPr>
          <a:xfrm>
            <a:off x="640080" y="5623560"/>
            <a:ext cx="10881360" cy="548640"/>
          </a:xfrm>
          <a:prstGeom prst="rect">
            <a:avLst/>
          </a:prstGeom>
          <a:noFill/>
          <a:ln/>
        </p:spPr>
        <p:txBody>
          <a:bodyPr wrap="square" rtlCol="0" anchor="ctr"/>
          <a:lstStyle/>
          <a:p>
            <a:pPr marL="0" indent="0">
              <a:lnSpc>
                <a:spcPct val="115000"/>
              </a:lnSpc>
              <a:buNone/>
            </a:pPr>
            <a:r>
              <a:rPr lang="en-US" sz="1100" i="1" dirty="0">
                <a:solidFill>
                  <a:srgbClr val="5B6472"/>
                </a:solidFill>
                <a:latin typeface="Calibri" pitchFamily="34" charset="0"/>
                <a:ea typeface="Calibri" pitchFamily="34" charset="-122"/>
                <a:cs typeface="Calibri" pitchFamily="34" charset="-120"/>
              </a:rPr>
              <a:t>The “visibility” and “communication” clusters were the most testable at a 5-minute prototype fair, so we developed those. “Scheduling influence” needs longer validation, so it became a future extension.</a:t>
            </a:r>
            <a:endParaRPr lang="en-US" sz="1100" dirty="0"/>
          </a:p>
        </p:txBody>
      </p:sp>
      <p:sp>
        <p:nvSpPr>
          <p:cNvPr id="28" name="Text 22"/>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29" name="Text 2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502920"/>
          </a:xfrm>
          <a:prstGeom prst="rect">
            <a:avLst/>
          </a:prstGeom>
          <a:noFill/>
          <a:ln/>
        </p:spPr>
        <p:txBody>
          <a:bodyPr wrap="square" rtlCol="0" anchor="ctr"/>
          <a:lstStyle/>
          <a:p>
            <a:pPr marL="0" indent="0">
              <a:buNone/>
            </a:pPr>
            <a:r>
              <a:rPr lang="en-US" sz="2800" b="1" dirty="0">
                <a:solidFill>
                  <a:srgbClr val="1C2541"/>
                </a:solidFill>
                <a:latin typeface="Cambria" pitchFamily="34" charset="0"/>
                <a:ea typeface="Cambria" pitchFamily="34" charset="-122"/>
                <a:cs typeface="Cambria" pitchFamily="34" charset="-120"/>
              </a:rPr>
              <a:t>Lo-fi Prototype</a:t>
            </a:r>
            <a:endParaRPr lang="en-US" sz="2800" dirty="0"/>
          </a:p>
        </p:txBody>
      </p:sp>
      <p:sp>
        <p:nvSpPr>
          <p:cNvPr id="3" name="Text 1"/>
          <p:cNvSpPr/>
          <p:nvPr/>
        </p:nvSpPr>
        <p:spPr>
          <a:xfrm>
            <a:off x="640080" y="886968"/>
            <a:ext cx="10058400" cy="32004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Visible Queue + Receipt — both low-tech, both reuse information staff already hold</a:t>
            </a:r>
            <a:endParaRPr lang="en-US" sz="1300" dirty="0"/>
          </a:p>
        </p:txBody>
      </p:sp>
      <p:sp>
        <p:nvSpPr>
          <p:cNvPr id="4" name="Shape 2"/>
          <p:cNvSpPr/>
          <p:nvPr/>
        </p:nvSpPr>
        <p:spPr>
          <a:xfrm>
            <a:off x="640080" y="1417320"/>
            <a:ext cx="5486400" cy="3200400"/>
          </a:xfrm>
          <a:prstGeom prst="roundRect">
            <a:avLst>
              <a:gd name="adj" fmla="val 2857"/>
            </a:avLst>
          </a:prstGeom>
          <a:solidFill>
            <a:srgbClr val="F4F5F7"/>
          </a:solidFill>
          <a:ln/>
        </p:spPr>
        <p:txBody>
          <a:bodyPr/>
          <a:lstStyle/>
          <a:p>
            <a:endParaRPr lang="zh-CN" altLang="en-US"/>
          </a:p>
        </p:txBody>
      </p:sp>
      <p:sp>
        <p:nvSpPr>
          <p:cNvPr id="5" name="Shape 3"/>
          <p:cNvSpPr/>
          <p:nvPr/>
        </p:nvSpPr>
        <p:spPr>
          <a:xfrm>
            <a:off x="868680" y="1627632"/>
            <a:ext cx="502920" cy="502920"/>
          </a:xfrm>
          <a:prstGeom prst="ellipse">
            <a:avLst/>
          </a:prstGeom>
          <a:solidFill>
            <a:srgbClr val="1C2541"/>
          </a:solidFill>
          <a:ln/>
        </p:spPr>
        <p:txBody>
          <a:bodyPr/>
          <a:lstStyle/>
          <a:p>
            <a:endParaRPr lang="zh-CN" altLang="en-US"/>
          </a:p>
        </p:txBody>
      </p:sp>
      <p:pic>
        <p:nvPicPr>
          <p:cNvPr id="6" name="Image 0" descr="/Users/devonma/Desktop/9106/Assignment/A2b/build/icons/eye.png"/>
          <p:cNvPicPr>
            <a:picLocks noChangeAspect="1"/>
          </p:cNvPicPr>
          <p:nvPr/>
        </p:nvPicPr>
        <p:blipFill>
          <a:blip r:embed="rId3"/>
          <a:stretch>
            <a:fillRect/>
          </a:stretch>
        </p:blipFill>
        <p:spPr>
          <a:xfrm>
            <a:off x="999439" y="1758391"/>
            <a:ext cx="241402" cy="241402"/>
          </a:xfrm>
          <a:prstGeom prst="rect">
            <a:avLst/>
          </a:prstGeom>
        </p:spPr>
      </p:pic>
      <p:sp>
        <p:nvSpPr>
          <p:cNvPr id="7" name="Text 4"/>
          <p:cNvSpPr/>
          <p:nvPr/>
        </p:nvSpPr>
        <p:spPr>
          <a:xfrm>
            <a:off x="1508760" y="1664208"/>
            <a:ext cx="4572000" cy="411480"/>
          </a:xfrm>
          <a:prstGeom prst="rect">
            <a:avLst/>
          </a:prstGeom>
          <a:noFill/>
          <a:ln/>
        </p:spPr>
        <p:txBody>
          <a:bodyPr wrap="square" rtlCol="0" anchor="ctr"/>
          <a:lstStyle/>
          <a:p>
            <a:pPr marL="0" indent="0">
              <a:buNone/>
            </a:pPr>
            <a:r>
              <a:rPr lang="en-US" sz="1450" b="1" dirty="0">
                <a:solidFill>
                  <a:srgbClr val="1C2541"/>
                </a:solidFill>
                <a:latin typeface="Calibri" pitchFamily="34" charset="0"/>
                <a:ea typeface="Calibri" pitchFamily="34" charset="-122"/>
                <a:cs typeface="Calibri" pitchFamily="34" charset="-120"/>
              </a:rPr>
              <a:t>1. Visible Repair Queue Board</a:t>
            </a:r>
            <a:endParaRPr lang="en-US" sz="1450" dirty="0"/>
          </a:p>
        </p:txBody>
      </p:sp>
      <p:sp>
        <p:nvSpPr>
          <p:cNvPr id="8" name="Text 5"/>
          <p:cNvSpPr/>
          <p:nvPr/>
        </p:nvSpPr>
        <p:spPr>
          <a:xfrm>
            <a:off x="868680" y="2212848"/>
            <a:ext cx="5029200" cy="685800"/>
          </a:xfrm>
          <a:prstGeom prst="rect">
            <a:avLst/>
          </a:prstGeom>
          <a:noFill/>
          <a:ln/>
        </p:spPr>
        <p:txBody>
          <a:bodyPr wrap="square" rtlCol="0" anchor="ctr"/>
          <a:lstStyle/>
          <a:p>
            <a:pPr marL="0" indent="0">
              <a:lnSpc>
                <a:spcPct val="115000"/>
              </a:lnSpc>
              <a:buNone/>
            </a:pPr>
            <a:r>
              <a:rPr lang="en-US" sz="1100" dirty="0">
                <a:solidFill>
                  <a:srgbClr val="222831"/>
                </a:solidFill>
                <a:latin typeface="Calibri" pitchFamily="34" charset="0"/>
                <a:ea typeface="Calibri" pitchFamily="34" charset="-122"/>
                <a:cs typeface="Calibri" pitchFamily="34" charset="-120"/>
              </a:rPr>
              <a:t>Lobby display or simple shared page, showing anonymised ticket stages plus an estimated stage range and who’s currently responsible.</a:t>
            </a:r>
            <a:endParaRPr lang="en-US" sz="1100" dirty="0"/>
          </a:p>
        </p:txBody>
      </p:sp>
      <p:sp>
        <p:nvSpPr>
          <p:cNvPr id="9" name="Shape 6"/>
          <p:cNvSpPr/>
          <p:nvPr/>
        </p:nvSpPr>
        <p:spPr>
          <a:xfrm>
            <a:off x="868680" y="3063240"/>
            <a:ext cx="502920" cy="502920"/>
          </a:xfrm>
          <a:prstGeom prst="ellipse">
            <a:avLst/>
          </a:prstGeom>
          <a:solidFill>
            <a:srgbClr val="D9DEE6"/>
          </a:solidFill>
          <a:ln/>
        </p:spPr>
        <p:txBody>
          <a:bodyPr/>
          <a:lstStyle/>
          <a:p>
            <a:endParaRPr lang="zh-CN" altLang="en-US"/>
          </a:p>
        </p:txBody>
      </p:sp>
      <p:sp>
        <p:nvSpPr>
          <p:cNvPr id="10" name="Text 7"/>
          <p:cNvSpPr/>
          <p:nvPr/>
        </p:nvSpPr>
        <p:spPr>
          <a:xfrm>
            <a:off x="868680" y="3063240"/>
            <a:ext cx="502920" cy="502920"/>
          </a:xfrm>
          <a:prstGeom prst="rect">
            <a:avLst/>
          </a:prstGeom>
          <a:noFill/>
          <a:ln/>
        </p:spPr>
        <p:txBody>
          <a:bodyPr wrap="square"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640080" y="3611880"/>
            <a:ext cx="960120" cy="274320"/>
          </a:xfrm>
          <a:prstGeom prst="rect">
            <a:avLst/>
          </a:prstGeom>
          <a:noFill/>
          <a:ln/>
        </p:spPr>
        <p:txBody>
          <a:bodyPr wrap="square" rtlCol="0" anchor="ctr"/>
          <a:lstStyle/>
          <a:p>
            <a:pPr marL="0" indent="0" algn="ctr">
              <a:buNone/>
            </a:pPr>
            <a:r>
              <a:rPr lang="en-US" sz="850" dirty="0">
                <a:solidFill>
                  <a:srgbClr val="5B6472"/>
                </a:solidFill>
                <a:latin typeface="Calibri" pitchFamily="34" charset="0"/>
                <a:ea typeface="Calibri" pitchFamily="34" charset="-122"/>
                <a:cs typeface="Calibri" pitchFamily="34" charset="-120"/>
              </a:rPr>
              <a:t>Reported</a:t>
            </a:r>
            <a:endParaRPr lang="en-US" sz="850" dirty="0"/>
          </a:p>
        </p:txBody>
      </p:sp>
      <p:sp>
        <p:nvSpPr>
          <p:cNvPr id="12" name="Shape 9"/>
          <p:cNvSpPr/>
          <p:nvPr/>
        </p:nvSpPr>
        <p:spPr>
          <a:xfrm>
            <a:off x="1371600" y="3314700"/>
            <a:ext cx="628650" cy="0"/>
          </a:xfrm>
          <a:prstGeom prst="line">
            <a:avLst/>
          </a:prstGeom>
          <a:noFill/>
          <a:ln w="19050">
            <a:solidFill>
              <a:srgbClr val="D9DEE6"/>
            </a:solidFill>
            <a:prstDash val="solid"/>
          </a:ln>
        </p:spPr>
        <p:txBody>
          <a:bodyPr/>
          <a:lstStyle/>
          <a:p>
            <a:endParaRPr lang="zh-CN" altLang="en-US"/>
          </a:p>
        </p:txBody>
      </p:sp>
      <p:sp>
        <p:nvSpPr>
          <p:cNvPr id="13" name="Shape 10"/>
          <p:cNvSpPr/>
          <p:nvPr/>
        </p:nvSpPr>
        <p:spPr>
          <a:xfrm>
            <a:off x="2000250" y="3063240"/>
            <a:ext cx="502920" cy="502920"/>
          </a:xfrm>
          <a:prstGeom prst="ellipse">
            <a:avLst/>
          </a:prstGeom>
          <a:solidFill>
            <a:srgbClr val="D9DEE6"/>
          </a:solidFill>
          <a:ln/>
        </p:spPr>
        <p:txBody>
          <a:bodyPr/>
          <a:lstStyle/>
          <a:p>
            <a:endParaRPr lang="zh-CN" altLang="en-US"/>
          </a:p>
        </p:txBody>
      </p:sp>
      <p:sp>
        <p:nvSpPr>
          <p:cNvPr id="14" name="Text 11"/>
          <p:cNvSpPr/>
          <p:nvPr/>
        </p:nvSpPr>
        <p:spPr>
          <a:xfrm>
            <a:off x="2000250" y="3063240"/>
            <a:ext cx="502920" cy="502920"/>
          </a:xfrm>
          <a:prstGeom prst="rect">
            <a:avLst/>
          </a:prstGeom>
          <a:noFill/>
          <a:ln/>
        </p:spPr>
        <p:txBody>
          <a:bodyPr wrap="square"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1771650" y="3611880"/>
            <a:ext cx="960120" cy="274320"/>
          </a:xfrm>
          <a:prstGeom prst="rect">
            <a:avLst/>
          </a:prstGeom>
          <a:noFill/>
          <a:ln/>
        </p:spPr>
        <p:txBody>
          <a:bodyPr wrap="square" rtlCol="0" anchor="ctr"/>
          <a:lstStyle/>
          <a:p>
            <a:pPr marL="0" indent="0" algn="ctr">
              <a:buNone/>
            </a:pPr>
            <a:r>
              <a:rPr lang="en-US" sz="850" dirty="0">
                <a:solidFill>
                  <a:srgbClr val="5B6472"/>
                </a:solidFill>
                <a:latin typeface="Calibri" pitchFamily="34" charset="0"/>
                <a:ea typeface="Calibri" pitchFamily="34" charset="-122"/>
                <a:cs typeface="Calibri" pitchFamily="34" charset="-120"/>
              </a:rPr>
              <a:t>Assessed</a:t>
            </a:r>
            <a:endParaRPr lang="en-US" sz="850" dirty="0"/>
          </a:p>
        </p:txBody>
      </p:sp>
      <p:sp>
        <p:nvSpPr>
          <p:cNvPr id="16" name="Shape 13"/>
          <p:cNvSpPr/>
          <p:nvPr/>
        </p:nvSpPr>
        <p:spPr>
          <a:xfrm>
            <a:off x="2503170" y="3314700"/>
            <a:ext cx="628650" cy="0"/>
          </a:xfrm>
          <a:prstGeom prst="line">
            <a:avLst/>
          </a:prstGeom>
          <a:noFill/>
          <a:ln w="19050">
            <a:solidFill>
              <a:srgbClr val="D9DEE6"/>
            </a:solidFill>
            <a:prstDash val="solid"/>
          </a:ln>
        </p:spPr>
        <p:txBody>
          <a:bodyPr/>
          <a:lstStyle/>
          <a:p>
            <a:endParaRPr lang="zh-CN" altLang="en-US"/>
          </a:p>
        </p:txBody>
      </p:sp>
      <p:sp>
        <p:nvSpPr>
          <p:cNvPr id="17" name="Shape 14"/>
          <p:cNvSpPr/>
          <p:nvPr/>
        </p:nvSpPr>
        <p:spPr>
          <a:xfrm>
            <a:off x="3131820" y="3063240"/>
            <a:ext cx="502920" cy="502920"/>
          </a:xfrm>
          <a:prstGeom prst="ellipse">
            <a:avLst/>
          </a:prstGeom>
          <a:solidFill>
            <a:srgbClr val="D9782D"/>
          </a:solidFill>
          <a:ln/>
        </p:spPr>
        <p:txBody>
          <a:bodyPr/>
          <a:lstStyle/>
          <a:p>
            <a:endParaRPr lang="zh-CN" altLang="en-US"/>
          </a:p>
        </p:txBody>
      </p:sp>
      <p:sp>
        <p:nvSpPr>
          <p:cNvPr id="18" name="Text 15"/>
          <p:cNvSpPr/>
          <p:nvPr/>
        </p:nvSpPr>
        <p:spPr>
          <a:xfrm>
            <a:off x="3131820" y="306324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2903220" y="3611880"/>
            <a:ext cx="960120" cy="274320"/>
          </a:xfrm>
          <a:prstGeom prst="rect">
            <a:avLst/>
          </a:prstGeom>
          <a:noFill/>
          <a:ln/>
        </p:spPr>
        <p:txBody>
          <a:bodyPr wrap="square" rtlCol="0" anchor="ctr"/>
          <a:lstStyle/>
          <a:p>
            <a:pPr marL="0" indent="0" algn="ctr">
              <a:buNone/>
            </a:pPr>
            <a:r>
              <a:rPr lang="en-US" sz="850" b="1" dirty="0">
                <a:solidFill>
                  <a:srgbClr val="1C2541"/>
                </a:solidFill>
                <a:latin typeface="Calibri" pitchFamily="34" charset="0"/>
                <a:ea typeface="Calibri" pitchFamily="34" charset="-122"/>
                <a:cs typeface="Calibri" pitchFamily="34" charset="-120"/>
              </a:rPr>
              <a:t>Scheduled</a:t>
            </a:r>
            <a:endParaRPr lang="en-US" sz="850" dirty="0"/>
          </a:p>
        </p:txBody>
      </p:sp>
      <p:sp>
        <p:nvSpPr>
          <p:cNvPr id="20" name="Shape 17"/>
          <p:cNvSpPr/>
          <p:nvPr/>
        </p:nvSpPr>
        <p:spPr>
          <a:xfrm>
            <a:off x="3634740" y="3314700"/>
            <a:ext cx="628650" cy="0"/>
          </a:xfrm>
          <a:prstGeom prst="line">
            <a:avLst/>
          </a:prstGeom>
          <a:noFill/>
          <a:ln w="19050">
            <a:solidFill>
              <a:srgbClr val="D9DEE6"/>
            </a:solidFill>
            <a:prstDash val="solid"/>
          </a:ln>
        </p:spPr>
        <p:txBody>
          <a:bodyPr/>
          <a:lstStyle/>
          <a:p>
            <a:endParaRPr lang="zh-CN" altLang="en-US"/>
          </a:p>
        </p:txBody>
      </p:sp>
      <p:sp>
        <p:nvSpPr>
          <p:cNvPr id="21" name="Shape 18"/>
          <p:cNvSpPr/>
          <p:nvPr/>
        </p:nvSpPr>
        <p:spPr>
          <a:xfrm>
            <a:off x="4263390" y="3063240"/>
            <a:ext cx="502920" cy="502920"/>
          </a:xfrm>
          <a:prstGeom prst="ellipse">
            <a:avLst/>
          </a:prstGeom>
          <a:solidFill>
            <a:srgbClr val="D9DEE6"/>
          </a:solidFill>
          <a:ln/>
        </p:spPr>
        <p:txBody>
          <a:bodyPr/>
          <a:lstStyle/>
          <a:p>
            <a:endParaRPr lang="zh-CN" altLang="en-US"/>
          </a:p>
        </p:txBody>
      </p:sp>
      <p:sp>
        <p:nvSpPr>
          <p:cNvPr id="22" name="Text 19"/>
          <p:cNvSpPr/>
          <p:nvPr/>
        </p:nvSpPr>
        <p:spPr>
          <a:xfrm>
            <a:off x="4263390" y="3063240"/>
            <a:ext cx="502920" cy="502920"/>
          </a:xfrm>
          <a:prstGeom prst="rect">
            <a:avLst/>
          </a:prstGeom>
          <a:noFill/>
          <a:ln/>
        </p:spPr>
        <p:txBody>
          <a:bodyPr wrap="square"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4</a:t>
            </a:r>
            <a:endParaRPr lang="en-US" sz="1200" dirty="0"/>
          </a:p>
        </p:txBody>
      </p:sp>
      <p:sp>
        <p:nvSpPr>
          <p:cNvPr id="23" name="Text 20"/>
          <p:cNvSpPr/>
          <p:nvPr/>
        </p:nvSpPr>
        <p:spPr>
          <a:xfrm>
            <a:off x="4034790" y="3611880"/>
            <a:ext cx="960120" cy="274320"/>
          </a:xfrm>
          <a:prstGeom prst="rect">
            <a:avLst/>
          </a:prstGeom>
          <a:noFill/>
          <a:ln/>
        </p:spPr>
        <p:txBody>
          <a:bodyPr wrap="square" rtlCol="0" anchor="ctr"/>
          <a:lstStyle/>
          <a:p>
            <a:pPr marL="0" indent="0" algn="ctr">
              <a:buNone/>
            </a:pPr>
            <a:r>
              <a:rPr lang="en-US" sz="850" dirty="0">
                <a:solidFill>
                  <a:srgbClr val="5B6472"/>
                </a:solidFill>
                <a:latin typeface="Calibri" pitchFamily="34" charset="0"/>
                <a:ea typeface="Calibri" pitchFamily="34" charset="-122"/>
                <a:cs typeface="Calibri" pitchFamily="34" charset="-120"/>
              </a:rPr>
              <a:t>In progress</a:t>
            </a:r>
            <a:endParaRPr lang="en-US" sz="850" dirty="0"/>
          </a:p>
        </p:txBody>
      </p:sp>
      <p:sp>
        <p:nvSpPr>
          <p:cNvPr id="24" name="Shape 21"/>
          <p:cNvSpPr/>
          <p:nvPr/>
        </p:nvSpPr>
        <p:spPr>
          <a:xfrm>
            <a:off x="4766310" y="3314700"/>
            <a:ext cx="628650" cy="0"/>
          </a:xfrm>
          <a:prstGeom prst="line">
            <a:avLst/>
          </a:prstGeom>
          <a:noFill/>
          <a:ln w="19050">
            <a:solidFill>
              <a:srgbClr val="D9DEE6"/>
            </a:solidFill>
            <a:prstDash val="solid"/>
          </a:ln>
        </p:spPr>
        <p:txBody>
          <a:bodyPr/>
          <a:lstStyle/>
          <a:p>
            <a:endParaRPr lang="zh-CN" altLang="en-US"/>
          </a:p>
        </p:txBody>
      </p:sp>
      <p:sp>
        <p:nvSpPr>
          <p:cNvPr id="25" name="Shape 22"/>
          <p:cNvSpPr/>
          <p:nvPr/>
        </p:nvSpPr>
        <p:spPr>
          <a:xfrm>
            <a:off x="5394960" y="3063240"/>
            <a:ext cx="502920" cy="502920"/>
          </a:xfrm>
          <a:prstGeom prst="ellipse">
            <a:avLst/>
          </a:prstGeom>
          <a:solidFill>
            <a:srgbClr val="D9DEE6"/>
          </a:solidFill>
          <a:ln/>
        </p:spPr>
        <p:txBody>
          <a:bodyPr/>
          <a:lstStyle/>
          <a:p>
            <a:endParaRPr lang="zh-CN" altLang="en-US"/>
          </a:p>
        </p:txBody>
      </p:sp>
      <p:sp>
        <p:nvSpPr>
          <p:cNvPr id="26" name="Text 23"/>
          <p:cNvSpPr/>
          <p:nvPr/>
        </p:nvSpPr>
        <p:spPr>
          <a:xfrm>
            <a:off x="5394960" y="3063240"/>
            <a:ext cx="502920" cy="502920"/>
          </a:xfrm>
          <a:prstGeom prst="rect">
            <a:avLst/>
          </a:prstGeom>
          <a:noFill/>
          <a:ln/>
        </p:spPr>
        <p:txBody>
          <a:bodyPr wrap="square" rtlCol="0" anchor="ctr"/>
          <a:lstStyle/>
          <a:p>
            <a:pPr marL="0" indent="0" algn="ctr">
              <a:buNone/>
            </a:pPr>
            <a:r>
              <a:rPr lang="en-US" sz="1200" b="1" dirty="0">
                <a:solidFill>
                  <a:srgbClr val="5B6472"/>
                </a:solidFill>
                <a:latin typeface="Calibri" pitchFamily="34" charset="0"/>
                <a:ea typeface="Calibri" pitchFamily="34" charset="-122"/>
                <a:cs typeface="Calibri" pitchFamily="34" charset="-120"/>
              </a:rPr>
              <a:t>5</a:t>
            </a:r>
            <a:endParaRPr lang="en-US" sz="1200" dirty="0"/>
          </a:p>
        </p:txBody>
      </p:sp>
      <p:sp>
        <p:nvSpPr>
          <p:cNvPr id="27" name="Text 24"/>
          <p:cNvSpPr/>
          <p:nvPr/>
        </p:nvSpPr>
        <p:spPr>
          <a:xfrm>
            <a:off x="5166360" y="3611880"/>
            <a:ext cx="960120" cy="274320"/>
          </a:xfrm>
          <a:prstGeom prst="rect">
            <a:avLst/>
          </a:prstGeom>
          <a:noFill/>
          <a:ln/>
        </p:spPr>
        <p:txBody>
          <a:bodyPr wrap="square" rtlCol="0" anchor="ctr"/>
          <a:lstStyle/>
          <a:p>
            <a:pPr marL="0" indent="0" algn="ctr">
              <a:buNone/>
            </a:pPr>
            <a:r>
              <a:rPr lang="en-US" sz="850" dirty="0">
                <a:solidFill>
                  <a:srgbClr val="5B6472"/>
                </a:solidFill>
                <a:latin typeface="Calibri" pitchFamily="34" charset="0"/>
                <a:ea typeface="Calibri" pitchFamily="34" charset="-122"/>
                <a:cs typeface="Calibri" pitchFamily="34" charset="-120"/>
              </a:rPr>
              <a:t>Done</a:t>
            </a:r>
            <a:endParaRPr lang="en-US" sz="850" dirty="0"/>
          </a:p>
        </p:txBody>
      </p:sp>
      <p:sp>
        <p:nvSpPr>
          <p:cNvPr id="28" name="Text 25"/>
          <p:cNvSpPr/>
          <p:nvPr/>
        </p:nvSpPr>
        <p:spPr>
          <a:xfrm>
            <a:off x="868680" y="4023360"/>
            <a:ext cx="5029200" cy="320040"/>
          </a:xfrm>
          <a:prstGeom prst="rect">
            <a:avLst/>
          </a:prstGeom>
          <a:noFill/>
          <a:ln/>
        </p:spPr>
        <p:txBody>
          <a:bodyPr wrap="square"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Currently: Scheduled — facility manager · est. 3–6 days</a:t>
            </a:r>
            <a:endParaRPr lang="en-US" sz="1050" dirty="0"/>
          </a:p>
        </p:txBody>
      </p:sp>
      <p:sp>
        <p:nvSpPr>
          <p:cNvPr id="29" name="Shape 26"/>
          <p:cNvSpPr/>
          <p:nvPr/>
        </p:nvSpPr>
        <p:spPr>
          <a:xfrm>
            <a:off x="6400800" y="1417320"/>
            <a:ext cx="5120640" cy="3200400"/>
          </a:xfrm>
          <a:prstGeom prst="roundRect">
            <a:avLst>
              <a:gd name="adj" fmla="val 2857"/>
            </a:avLst>
          </a:prstGeom>
          <a:solidFill>
            <a:srgbClr val="1C2541"/>
          </a:solidFill>
          <a:ln/>
        </p:spPr>
        <p:txBody>
          <a:bodyPr/>
          <a:lstStyle/>
          <a:p>
            <a:endParaRPr lang="zh-CN" altLang="en-US"/>
          </a:p>
        </p:txBody>
      </p:sp>
      <p:sp>
        <p:nvSpPr>
          <p:cNvPr id="30" name="Shape 27"/>
          <p:cNvSpPr/>
          <p:nvPr/>
        </p:nvSpPr>
        <p:spPr>
          <a:xfrm>
            <a:off x="6629400" y="1627632"/>
            <a:ext cx="502920" cy="502920"/>
          </a:xfrm>
          <a:prstGeom prst="ellipse">
            <a:avLst/>
          </a:prstGeom>
          <a:solidFill>
            <a:srgbClr val="D9782D"/>
          </a:solidFill>
          <a:ln/>
        </p:spPr>
        <p:txBody>
          <a:bodyPr/>
          <a:lstStyle/>
          <a:p>
            <a:endParaRPr lang="zh-CN" altLang="en-US"/>
          </a:p>
        </p:txBody>
      </p:sp>
      <p:pic>
        <p:nvPicPr>
          <p:cNvPr id="31" name="Image 1" descr="/Users/devonma/Desktop/9106/Assignment/A2b/build/icons/file.png"/>
          <p:cNvPicPr>
            <a:picLocks noChangeAspect="1"/>
          </p:cNvPicPr>
          <p:nvPr/>
        </p:nvPicPr>
        <p:blipFill>
          <a:blip r:embed="rId4"/>
          <a:stretch>
            <a:fillRect/>
          </a:stretch>
        </p:blipFill>
        <p:spPr>
          <a:xfrm>
            <a:off x="6760159" y="1758391"/>
            <a:ext cx="241402" cy="241402"/>
          </a:xfrm>
          <a:prstGeom prst="rect">
            <a:avLst/>
          </a:prstGeom>
        </p:spPr>
      </p:pic>
      <p:sp>
        <p:nvSpPr>
          <p:cNvPr id="32" name="Text 28"/>
          <p:cNvSpPr/>
          <p:nvPr/>
        </p:nvSpPr>
        <p:spPr>
          <a:xfrm>
            <a:off x="7269480" y="1664208"/>
            <a:ext cx="4023360" cy="41148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2. Repair Receipt Card</a:t>
            </a:r>
            <a:endParaRPr lang="en-US" sz="1450" dirty="0"/>
          </a:p>
        </p:txBody>
      </p:sp>
      <p:sp>
        <p:nvSpPr>
          <p:cNvPr id="33" name="Text 29"/>
          <p:cNvSpPr/>
          <p:nvPr/>
        </p:nvSpPr>
        <p:spPr>
          <a:xfrm>
            <a:off x="6629400" y="2212848"/>
            <a:ext cx="4572000" cy="274320"/>
          </a:xfrm>
          <a:prstGeom prst="rect">
            <a:avLst/>
          </a:prstGeom>
          <a:noFill/>
          <a:ln/>
        </p:spPr>
        <p:txBody>
          <a:bodyPr wrap="square" rtlCol="0" anchor="ctr"/>
          <a:lstStyle/>
          <a:p>
            <a:pPr marL="0" indent="0">
              <a:buNone/>
            </a:pPr>
            <a:r>
              <a:rPr lang="en-US" sz="1100" dirty="0">
                <a:solidFill>
                  <a:srgbClr val="CFE0E8"/>
                </a:solidFill>
                <a:latin typeface="Calibri" pitchFamily="34" charset="0"/>
                <a:ea typeface="Calibri" pitchFamily="34" charset="-122"/>
                <a:cs typeface="Calibri" pitchFamily="34" charset="-120"/>
              </a:rPr>
              <a:t>Given the moment a fault is reported.</a:t>
            </a:r>
            <a:endParaRPr lang="en-US" sz="1100" dirty="0"/>
          </a:p>
        </p:txBody>
      </p:sp>
      <p:sp>
        <p:nvSpPr>
          <p:cNvPr id="34" name="Shape 30"/>
          <p:cNvSpPr/>
          <p:nvPr/>
        </p:nvSpPr>
        <p:spPr>
          <a:xfrm>
            <a:off x="6629400" y="2606040"/>
            <a:ext cx="4663440" cy="1783080"/>
          </a:xfrm>
          <a:prstGeom prst="roundRect">
            <a:avLst>
              <a:gd name="adj" fmla="val 3077"/>
            </a:avLst>
          </a:prstGeom>
          <a:solidFill>
            <a:srgbClr val="FFFFFF"/>
          </a:solidFill>
          <a:ln/>
        </p:spPr>
        <p:txBody>
          <a:bodyPr/>
          <a:lstStyle/>
          <a:p>
            <a:endParaRPr lang="zh-CN" altLang="en-US"/>
          </a:p>
        </p:txBody>
      </p:sp>
      <p:sp>
        <p:nvSpPr>
          <p:cNvPr id="35" name="Text 31"/>
          <p:cNvSpPr/>
          <p:nvPr/>
        </p:nvSpPr>
        <p:spPr>
          <a:xfrm>
            <a:off x="6812280" y="2761488"/>
            <a:ext cx="1737360" cy="274320"/>
          </a:xfrm>
          <a:prstGeom prst="rect">
            <a:avLst/>
          </a:prstGeom>
          <a:noFill/>
          <a:ln/>
        </p:spPr>
        <p:txBody>
          <a:bodyPr wrap="square" rtlCol="0" anchor="ctr"/>
          <a:lstStyle/>
          <a:p>
            <a:pPr marL="0" indent="0">
              <a:buNone/>
            </a:pPr>
            <a:r>
              <a:rPr lang="en-US" sz="1000" b="1" dirty="0">
                <a:solidFill>
                  <a:srgbClr val="5B6472"/>
                </a:solidFill>
                <a:latin typeface="Calibri" pitchFamily="34" charset="0"/>
                <a:ea typeface="Calibri" pitchFamily="34" charset="-122"/>
                <a:cs typeface="Calibri" pitchFamily="34" charset="-120"/>
              </a:rPr>
              <a:t>Reported:</a:t>
            </a:r>
            <a:endParaRPr lang="en-US" sz="1000" dirty="0"/>
          </a:p>
        </p:txBody>
      </p:sp>
      <p:sp>
        <p:nvSpPr>
          <p:cNvPr id="36" name="Text 32"/>
          <p:cNvSpPr/>
          <p:nvPr/>
        </p:nvSpPr>
        <p:spPr>
          <a:xfrm>
            <a:off x="8503920" y="2761488"/>
            <a:ext cx="2651760" cy="274320"/>
          </a:xfrm>
          <a:prstGeom prst="rect">
            <a:avLst/>
          </a:prstGeom>
          <a:noFill/>
          <a:ln/>
        </p:spPr>
        <p:txBody>
          <a:bodyPr wrap="square" rtlCol="0" anchor="ctr"/>
          <a:lstStyle/>
          <a:p>
            <a:pPr marL="0" indent="0">
              <a:buNone/>
            </a:pPr>
            <a:r>
              <a:rPr lang="en-US" sz="1050" dirty="0">
                <a:solidFill>
                  <a:srgbClr val="1C2541"/>
                </a:solidFill>
                <a:latin typeface="Calibri" pitchFamily="34" charset="0"/>
                <a:ea typeface="Calibri" pitchFamily="34" charset="-122"/>
                <a:cs typeface="Calibri" pitchFamily="34" charset="-120"/>
              </a:rPr>
              <a:t>Lift — Building B, Level 2</a:t>
            </a:r>
            <a:endParaRPr lang="en-US" sz="1050" dirty="0"/>
          </a:p>
        </p:txBody>
      </p:sp>
      <p:sp>
        <p:nvSpPr>
          <p:cNvPr id="37" name="Text 33"/>
          <p:cNvSpPr/>
          <p:nvPr/>
        </p:nvSpPr>
        <p:spPr>
          <a:xfrm>
            <a:off x="6812280" y="3200400"/>
            <a:ext cx="1737360" cy="274320"/>
          </a:xfrm>
          <a:prstGeom prst="rect">
            <a:avLst/>
          </a:prstGeom>
          <a:noFill/>
          <a:ln/>
        </p:spPr>
        <p:txBody>
          <a:bodyPr wrap="square" rtlCol="0" anchor="ctr"/>
          <a:lstStyle/>
          <a:p>
            <a:pPr marL="0" indent="0">
              <a:buNone/>
            </a:pPr>
            <a:r>
              <a:rPr lang="en-US" sz="1000" b="1" dirty="0">
                <a:solidFill>
                  <a:srgbClr val="5B6472"/>
                </a:solidFill>
                <a:latin typeface="Calibri" pitchFamily="34" charset="0"/>
                <a:ea typeface="Calibri" pitchFamily="34" charset="-122"/>
                <a:cs typeface="Calibri" pitchFamily="34" charset="-120"/>
              </a:rPr>
              <a:t>Next step owned by:</a:t>
            </a:r>
            <a:endParaRPr lang="en-US" sz="1000" dirty="0"/>
          </a:p>
        </p:txBody>
      </p:sp>
      <p:sp>
        <p:nvSpPr>
          <p:cNvPr id="38" name="Text 34"/>
          <p:cNvSpPr/>
          <p:nvPr/>
        </p:nvSpPr>
        <p:spPr>
          <a:xfrm>
            <a:off x="8503920" y="3200400"/>
            <a:ext cx="2651760" cy="274320"/>
          </a:xfrm>
          <a:prstGeom prst="rect">
            <a:avLst/>
          </a:prstGeom>
          <a:noFill/>
          <a:ln/>
        </p:spPr>
        <p:txBody>
          <a:bodyPr wrap="square" rtlCol="0" anchor="ctr"/>
          <a:lstStyle/>
          <a:p>
            <a:pPr marL="0" indent="0">
              <a:buNone/>
            </a:pPr>
            <a:r>
              <a:rPr lang="en-US" sz="1050" dirty="0">
                <a:solidFill>
                  <a:srgbClr val="1C2541"/>
                </a:solidFill>
                <a:latin typeface="Calibri" pitchFamily="34" charset="0"/>
                <a:ea typeface="Calibri" pitchFamily="34" charset="-122"/>
                <a:cs typeface="Calibri" pitchFamily="34" charset="-120"/>
              </a:rPr>
              <a:t>Facility manager</a:t>
            </a:r>
            <a:endParaRPr lang="en-US" sz="1050" dirty="0"/>
          </a:p>
        </p:txBody>
      </p:sp>
      <p:sp>
        <p:nvSpPr>
          <p:cNvPr id="39" name="Text 35"/>
          <p:cNvSpPr/>
          <p:nvPr/>
        </p:nvSpPr>
        <p:spPr>
          <a:xfrm>
            <a:off x="6812280" y="3639312"/>
            <a:ext cx="1737360" cy="274320"/>
          </a:xfrm>
          <a:prstGeom prst="rect">
            <a:avLst/>
          </a:prstGeom>
          <a:noFill/>
          <a:ln/>
        </p:spPr>
        <p:txBody>
          <a:bodyPr wrap="square" rtlCol="0" anchor="ctr"/>
          <a:lstStyle/>
          <a:p>
            <a:pPr marL="0" indent="0">
              <a:buNone/>
            </a:pPr>
            <a:r>
              <a:rPr lang="en-US" sz="1000" b="1" dirty="0">
                <a:solidFill>
                  <a:srgbClr val="5B6472"/>
                </a:solidFill>
                <a:latin typeface="Calibri" pitchFamily="34" charset="0"/>
                <a:ea typeface="Calibri" pitchFamily="34" charset="-122"/>
                <a:cs typeface="Calibri" pitchFamily="34" charset="-120"/>
              </a:rPr>
              <a:t>Next update by:</a:t>
            </a:r>
            <a:endParaRPr lang="en-US" sz="1000" dirty="0"/>
          </a:p>
        </p:txBody>
      </p:sp>
      <p:sp>
        <p:nvSpPr>
          <p:cNvPr id="40" name="Text 36"/>
          <p:cNvSpPr/>
          <p:nvPr/>
        </p:nvSpPr>
        <p:spPr>
          <a:xfrm>
            <a:off x="8503920" y="3639312"/>
            <a:ext cx="2651760" cy="274320"/>
          </a:xfrm>
          <a:prstGeom prst="rect">
            <a:avLst/>
          </a:prstGeom>
          <a:noFill/>
          <a:ln/>
        </p:spPr>
        <p:txBody>
          <a:bodyPr wrap="square" rtlCol="0" anchor="ctr"/>
          <a:lstStyle/>
          <a:p>
            <a:pPr marL="0" indent="0">
              <a:buNone/>
            </a:pPr>
            <a:r>
              <a:rPr lang="en-US" sz="1050" dirty="0">
                <a:solidFill>
                  <a:srgbClr val="1C2541"/>
                </a:solidFill>
                <a:latin typeface="Calibri" pitchFamily="34" charset="0"/>
                <a:ea typeface="Calibri" pitchFamily="34" charset="-122"/>
                <a:cs typeface="Calibri" pitchFamily="34" charset="-120"/>
              </a:rPr>
              <a:t>Thursday, 5pm</a:t>
            </a:r>
            <a:endParaRPr lang="en-US" sz="1050" dirty="0"/>
          </a:p>
        </p:txBody>
      </p:sp>
      <p:sp>
        <p:nvSpPr>
          <p:cNvPr id="41" name="Text 37"/>
          <p:cNvSpPr/>
          <p:nvPr/>
        </p:nvSpPr>
        <p:spPr>
          <a:xfrm>
            <a:off x="6812280" y="4123944"/>
            <a:ext cx="4297680" cy="457200"/>
          </a:xfrm>
          <a:prstGeom prst="rect">
            <a:avLst/>
          </a:prstGeom>
          <a:noFill/>
          <a:ln/>
        </p:spPr>
        <p:txBody>
          <a:bodyPr wrap="square" rtlCol="0" anchor="ctr"/>
          <a:lstStyle/>
          <a:p>
            <a:pPr marL="0" indent="0">
              <a:lnSpc>
                <a:spcPct val="110000"/>
              </a:lnSpc>
              <a:buNone/>
            </a:pPr>
            <a:r>
              <a:rPr lang="en-US" sz="950" i="1" dirty="0">
                <a:solidFill>
                  <a:srgbClr val="5B6472"/>
                </a:solidFill>
                <a:latin typeface="Calibri" pitchFamily="34" charset="0"/>
                <a:ea typeface="Calibri" pitchFamily="34" charset="-122"/>
                <a:cs typeface="Calibri" pitchFamily="34" charset="-120"/>
              </a:rPr>
              <a:t>Not when it’ll be fixed — when you’ll next hear something.</a:t>
            </a:r>
            <a:endParaRPr lang="en-US" sz="950" dirty="0"/>
          </a:p>
        </p:txBody>
      </p:sp>
      <p:sp>
        <p:nvSpPr>
          <p:cNvPr id="42" name="Shape 38"/>
          <p:cNvSpPr/>
          <p:nvPr/>
        </p:nvSpPr>
        <p:spPr>
          <a:xfrm>
            <a:off x="640080" y="4846320"/>
            <a:ext cx="10881360" cy="777240"/>
          </a:xfrm>
          <a:prstGeom prst="roundRect">
            <a:avLst>
              <a:gd name="adj" fmla="val 9412"/>
            </a:avLst>
          </a:prstGeom>
          <a:solidFill>
            <a:srgbClr val="FBEFE1"/>
          </a:solidFill>
          <a:ln w="12700">
            <a:solidFill>
              <a:srgbClr val="D9782D"/>
            </a:solidFill>
            <a:prstDash val="solid"/>
          </a:ln>
        </p:spPr>
        <p:txBody>
          <a:bodyPr/>
          <a:lstStyle/>
          <a:p>
            <a:endParaRPr lang="zh-CN" altLang="en-US"/>
          </a:p>
        </p:txBody>
      </p:sp>
      <p:pic>
        <p:nvPicPr>
          <p:cNvPr id="43" name="Image 2" descr="/Users/devonma/Desktop/9106/Assignment/A2b/build/icons/check.png"/>
          <p:cNvPicPr>
            <a:picLocks noChangeAspect="1"/>
          </p:cNvPicPr>
          <p:nvPr/>
        </p:nvPicPr>
        <p:blipFill>
          <a:blip r:embed="rId5"/>
          <a:stretch>
            <a:fillRect/>
          </a:stretch>
        </p:blipFill>
        <p:spPr>
          <a:xfrm>
            <a:off x="868680" y="5074920"/>
            <a:ext cx="320040" cy="320040"/>
          </a:xfrm>
          <a:prstGeom prst="rect">
            <a:avLst/>
          </a:prstGeom>
        </p:spPr>
      </p:pic>
      <p:sp>
        <p:nvSpPr>
          <p:cNvPr id="44" name="Text 39"/>
          <p:cNvSpPr/>
          <p:nvPr/>
        </p:nvSpPr>
        <p:spPr>
          <a:xfrm>
            <a:off x="1325880" y="5029200"/>
            <a:ext cx="9966960" cy="457200"/>
          </a:xfrm>
          <a:prstGeom prst="rect">
            <a:avLst/>
          </a:prstGeom>
          <a:noFill/>
          <a:ln/>
        </p:spPr>
        <p:txBody>
          <a:bodyPr wrap="square" rtlCol="0" anchor="ctr"/>
          <a:lstStyle/>
          <a:p>
            <a:pPr marL="0" indent="0">
              <a:buNone/>
            </a:pPr>
            <a:r>
              <a:rPr lang="en-US" sz="1150" i="1" dirty="0">
                <a:solidFill>
                  <a:srgbClr val="8A5A1E"/>
                </a:solidFill>
                <a:latin typeface="Calibri" pitchFamily="34" charset="0"/>
                <a:ea typeface="Calibri" pitchFamily="34" charset="-122"/>
                <a:cs typeface="Calibri" pitchFamily="34" charset="-120"/>
              </a:rPr>
              <a:t>Physical prototype — paper board + receipt card — brought to tutorial and demonstrated live alongside this slide.</a:t>
            </a:r>
            <a:endParaRPr lang="en-US" sz="1150" dirty="0"/>
          </a:p>
        </p:txBody>
      </p:sp>
      <p:sp>
        <p:nvSpPr>
          <p:cNvPr id="45" name="Text 40"/>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46" name="Text 41"/>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502920"/>
          </a:xfrm>
          <a:prstGeom prst="rect">
            <a:avLst/>
          </a:prstGeom>
          <a:noFill/>
          <a:ln/>
        </p:spPr>
        <p:txBody>
          <a:bodyPr wrap="square" rtlCol="0" anchor="ctr"/>
          <a:lstStyle/>
          <a:p>
            <a:pPr marL="0" indent="0">
              <a:buNone/>
            </a:pPr>
            <a:r>
              <a:rPr lang="en-US" sz="2800" b="1" dirty="0">
                <a:solidFill>
                  <a:srgbClr val="1C2541"/>
                </a:solidFill>
                <a:latin typeface="Cambria" pitchFamily="34" charset="0"/>
                <a:ea typeface="Cambria" pitchFamily="34" charset="-122"/>
                <a:cs typeface="Cambria" pitchFamily="34" charset="-120"/>
              </a:rPr>
              <a:t>Reflection</a:t>
            </a:r>
            <a:endParaRPr lang="en-US" sz="2800" dirty="0"/>
          </a:p>
        </p:txBody>
      </p:sp>
      <p:sp>
        <p:nvSpPr>
          <p:cNvPr id="3" name="Text 1"/>
          <p:cNvSpPr/>
          <p:nvPr/>
        </p:nvSpPr>
        <p:spPr>
          <a:xfrm>
            <a:off x="640080" y="859536"/>
            <a:ext cx="8229600" cy="32004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Why this creates change, and what we test next</a:t>
            </a:r>
            <a:endParaRPr lang="en-US" sz="1300" dirty="0"/>
          </a:p>
        </p:txBody>
      </p:sp>
      <p:sp>
        <p:nvSpPr>
          <p:cNvPr id="4" name="Shape 2"/>
          <p:cNvSpPr/>
          <p:nvPr/>
        </p:nvSpPr>
        <p:spPr>
          <a:xfrm>
            <a:off x="640080" y="1371600"/>
            <a:ext cx="6492240" cy="621792"/>
          </a:xfrm>
          <a:prstGeom prst="roundRect">
            <a:avLst>
              <a:gd name="adj" fmla="val 7353"/>
            </a:avLst>
          </a:prstGeom>
          <a:solidFill>
            <a:srgbClr val="F4F5F7"/>
          </a:solidFill>
          <a:ln/>
        </p:spPr>
        <p:txBody>
          <a:bodyPr/>
          <a:lstStyle/>
          <a:p>
            <a:endParaRPr lang="zh-CN" altLang="en-US"/>
          </a:p>
        </p:txBody>
      </p:sp>
      <p:sp>
        <p:nvSpPr>
          <p:cNvPr id="5" name="Text 3"/>
          <p:cNvSpPr/>
          <p:nvPr/>
        </p:nvSpPr>
        <p:spPr>
          <a:xfrm>
            <a:off x="822960" y="1426464"/>
            <a:ext cx="2834640" cy="512064"/>
          </a:xfrm>
          <a:prstGeom prst="rect">
            <a:avLst/>
          </a:prstGeom>
          <a:noFill/>
          <a:ln/>
        </p:spPr>
        <p:txBody>
          <a:bodyPr wrap="square" rtlCol="0" anchor="ctr"/>
          <a:lstStyle/>
          <a:p>
            <a:pPr marL="0" indent="0">
              <a:lnSpc>
                <a:spcPct val="105000"/>
              </a:lnSpc>
              <a:buNone/>
            </a:pPr>
            <a:r>
              <a:rPr lang="en-US" sz="1050" dirty="0">
                <a:solidFill>
                  <a:srgbClr val="222831"/>
                </a:solidFill>
                <a:latin typeface="Calibri" pitchFamily="34" charset="0"/>
                <a:ea typeface="Calibri" pitchFamily="34" charset="-122"/>
                <a:cs typeface="Calibri" pitchFamily="34" charset="-120"/>
              </a:rPr>
              <a:t>Unclear standards / status never updated</a:t>
            </a:r>
            <a:endParaRPr lang="en-US" sz="1050" dirty="0"/>
          </a:p>
        </p:txBody>
      </p:sp>
      <p:pic>
        <p:nvPicPr>
          <p:cNvPr id="6" name="Image 0" descr="/Users/devonma/Desktop/9106/Assignment/A2b/build/icons/trend.png"/>
          <p:cNvPicPr>
            <a:picLocks noChangeAspect="1"/>
          </p:cNvPicPr>
          <p:nvPr/>
        </p:nvPicPr>
        <p:blipFill>
          <a:blip r:embed="rId3"/>
          <a:stretch>
            <a:fillRect/>
          </a:stretch>
        </p:blipFill>
        <p:spPr>
          <a:xfrm>
            <a:off x="3703320" y="1563624"/>
            <a:ext cx="237744" cy="237744"/>
          </a:xfrm>
          <a:prstGeom prst="rect">
            <a:avLst/>
          </a:prstGeom>
        </p:spPr>
      </p:pic>
      <p:sp>
        <p:nvSpPr>
          <p:cNvPr id="7" name="Text 4"/>
          <p:cNvSpPr/>
          <p:nvPr/>
        </p:nvSpPr>
        <p:spPr>
          <a:xfrm>
            <a:off x="4069080" y="1426464"/>
            <a:ext cx="2971800" cy="512064"/>
          </a:xfrm>
          <a:prstGeom prst="rect">
            <a:avLst/>
          </a:prstGeom>
          <a:noFill/>
          <a:ln/>
        </p:spPr>
        <p:txBody>
          <a:bodyPr wrap="square" rtlCol="0" anchor="ctr"/>
          <a:lstStyle/>
          <a:p>
            <a:pPr marL="0" indent="0">
              <a:lnSpc>
                <a:spcPct val="105000"/>
              </a:lnSpc>
              <a:buNone/>
            </a:pPr>
            <a:r>
              <a:rPr lang="en-US" sz="1050" b="1" dirty="0">
                <a:solidFill>
                  <a:srgbClr val="1C2541"/>
                </a:solidFill>
                <a:latin typeface="Calibri" pitchFamily="34" charset="0"/>
                <a:ea typeface="Calibri" pitchFamily="34" charset="-122"/>
                <a:cs typeface="Calibri" pitchFamily="34" charset="-120"/>
              </a:rPr>
              <a:t>Visible Queue Board — stage always shown</a:t>
            </a:r>
            <a:endParaRPr lang="en-US" sz="1050" dirty="0"/>
          </a:p>
        </p:txBody>
      </p:sp>
      <p:sp>
        <p:nvSpPr>
          <p:cNvPr id="8" name="Shape 5"/>
          <p:cNvSpPr/>
          <p:nvPr/>
        </p:nvSpPr>
        <p:spPr>
          <a:xfrm>
            <a:off x="640080" y="2084832"/>
            <a:ext cx="6492240" cy="621792"/>
          </a:xfrm>
          <a:prstGeom prst="roundRect">
            <a:avLst>
              <a:gd name="adj" fmla="val 7353"/>
            </a:avLst>
          </a:prstGeom>
          <a:solidFill>
            <a:srgbClr val="F4F5F7"/>
          </a:solidFill>
          <a:ln/>
        </p:spPr>
        <p:txBody>
          <a:bodyPr/>
          <a:lstStyle/>
          <a:p>
            <a:endParaRPr lang="zh-CN" altLang="en-US"/>
          </a:p>
        </p:txBody>
      </p:sp>
      <p:sp>
        <p:nvSpPr>
          <p:cNvPr id="9" name="Text 6"/>
          <p:cNvSpPr/>
          <p:nvPr/>
        </p:nvSpPr>
        <p:spPr>
          <a:xfrm>
            <a:off x="822960" y="2139696"/>
            <a:ext cx="2834640" cy="512064"/>
          </a:xfrm>
          <a:prstGeom prst="rect">
            <a:avLst/>
          </a:prstGeom>
          <a:noFill/>
          <a:ln/>
        </p:spPr>
        <p:txBody>
          <a:bodyPr wrap="square" rtlCol="0" anchor="ctr"/>
          <a:lstStyle/>
          <a:p>
            <a:pPr marL="0" indent="0">
              <a:lnSpc>
                <a:spcPct val="105000"/>
              </a:lnSpc>
              <a:buNone/>
            </a:pPr>
            <a:r>
              <a:rPr lang="en-US" sz="1050" dirty="0">
                <a:solidFill>
                  <a:srgbClr val="222831"/>
                </a:solidFill>
                <a:latin typeface="Calibri" pitchFamily="34" charset="0"/>
                <a:ea typeface="Calibri" pitchFamily="34" charset="-122"/>
                <a:cs typeface="Calibri" pitchFamily="34" charset="-120"/>
              </a:rPr>
              <a:t>Checking status repeatedly</a:t>
            </a:r>
            <a:endParaRPr lang="en-US" sz="1050" dirty="0"/>
          </a:p>
        </p:txBody>
      </p:sp>
      <p:pic>
        <p:nvPicPr>
          <p:cNvPr id="10" name="Image 1" descr="/Users/devonma/Desktop/9106/Assignment/A2b/build/icons/trend.png"/>
          <p:cNvPicPr>
            <a:picLocks noChangeAspect="1"/>
          </p:cNvPicPr>
          <p:nvPr/>
        </p:nvPicPr>
        <p:blipFill>
          <a:blip r:embed="rId3"/>
          <a:stretch>
            <a:fillRect/>
          </a:stretch>
        </p:blipFill>
        <p:spPr>
          <a:xfrm>
            <a:off x="3703320" y="2276856"/>
            <a:ext cx="237744" cy="237744"/>
          </a:xfrm>
          <a:prstGeom prst="rect">
            <a:avLst/>
          </a:prstGeom>
        </p:spPr>
      </p:pic>
      <p:sp>
        <p:nvSpPr>
          <p:cNvPr id="11" name="Text 7"/>
          <p:cNvSpPr/>
          <p:nvPr/>
        </p:nvSpPr>
        <p:spPr>
          <a:xfrm>
            <a:off x="4069080" y="2139696"/>
            <a:ext cx="2971800" cy="512064"/>
          </a:xfrm>
          <a:prstGeom prst="rect">
            <a:avLst/>
          </a:prstGeom>
          <a:noFill/>
          <a:ln/>
        </p:spPr>
        <p:txBody>
          <a:bodyPr wrap="square" rtlCol="0" anchor="ctr"/>
          <a:lstStyle/>
          <a:p>
            <a:pPr marL="0" indent="0">
              <a:lnSpc>
                <a:spcPct val="105000"/>
              </a:lnSpc>
              <a:buNone/>
            </a:pPr>
            <a:r>
              <a:rPr lang="en-US" sz="1050" b="1" dirty="0">
                <a:solidFill>
                  <a:srgbClr val="1C2541"/>
                </a:solidFill>
                <a:latin typeface="Calibri" pitchFamily="34" charset="0"/>
                <a:ea typeface="Calibri" pitchFamily="34" charset="-122"/>
                <a:cs typeface="Calibri" pitchFamily="34" charset="-120"/>
              </a:rPr>
              <a:t>Board removes the need to ask — status is ambient</a:t>
            </a:r>
            <a:endParaRPr lang="en-US" sz="1050" dirty="0"/>
          </a:p>
        </p:txBody>
      </p:sp>
      <p:sp>
        <p:nvSpPr>
          <p:cNvPr id="12" name="Shape 8"/>
          <p:cNvSpPr/>
          <p:nvPr/>
        </p:nvSpPr>
        <p:spPr>
          <a:xfrm>
            <a:off x="640080" y="2798064"/>
            <a:ext cx="6492240" cy="621792"/>
          </a:xfrm>
          <a:prstGeom prst="roundRect">
            <a:avLst>
              <a:gd name="adj" fmla="val 7353"/>
            </a:avLst>
          </a:prstGeom>
          <a:solidFill>
            <a:srgbClr val="F4F5F7"/>
          </a:solidFill>
          <a:ln/>
        </p:spPr>
        <p:txBody>
          <a:bodyPr/>
          <a:lstStyle/>
          <a:p>
            <a:endParaRPr lang="zh-CN" altLang="en-US"/>
          </a:p>
        </p:txBody>
      </p:sp>
      <p:sp>
        <p:nvSpPr>
          <p:cNvPr id="13" name="Text 9"/>
          <p:cNvSpPr/>
          <p:nvPr/>
        </p:nvSpPr>
        <p:spPr>
          <a:xfrm>
            <a:off x="822960" y="2852928"/>
            <a:ext cx="2834640" cy="512064"/>
          </a:xfrm>
          <a:prstGeom prst="rect">
            <a:avLst/>
          </a:prstGeom>
          <a:noFill/>
          <a:ln/>
        </p:spPr>
        <p:txBody>
          <a:bodyPr wrap="square" rtlCol="0" anchor="ctr"/>
          <a:lstStyle/>
          <a:p>
            <a:pPr marL="0" indent="0">
              <a:lnSpc>
                <a:spcPct val="105000"/>
              </a:lnSpc>
              <a:buNone/>
            </a:pPr>
            <a:r>
              <a:rPr lang="en-US" sz="1050" dirty="0">
                <a:solidFill>
                  <a:srgbClr val="222831"/>
                </a:solidFill>
                <a:latin typeface="Calibri" pitchFamily="34" charset="0"/>
                <a:ea typeface="Calibri" pitchFamily="34" charset="-122"/>
                <a:cs typeface="Calibri" pitchFamily="34" charset="-120"/>
              </a:rPr>
              <a:t>Reply not useful / no reply</a:t>
            </a:r>
            <a:endParaRPr lang="en-US" sz="1050" dirty="0"/>
          </a:p>
        </p:txBody>
      </p:sp>
      <p:pic>
        <p:nvPicPr>
          <p:cNvPr id="14" name="Image 2" descr="/Users/devonma/Desktop/9106/Assignment/A2b/build/icons/trend.png"/>
          <p:cNvPicPr>
            <a:picLocks noChangeAspect="1"/>
          </p:cNvPicPr>
          <p:nvPr/>
        </p:nvPicPr>
        <p:blipFill>
          <a:blip r:embed="rId3"/>
          <a:stretch>
            <a:fillRect/>
          </a:stretch>
        </p:blipFill>
        <p:spPr>
          <a:xfrm>
            <a:off x="3703320" y="2990088"/>
            <a:ext cx="237744" cy="237744"/>
          </a:xfrm>
          <a:prstGeom prst="rect">
            <a:avLst/>
          </a:prstGeom>
        </p:spPr>
      </p:pic>
      <p:sp>
        <p:nvSpPr>
          <p:cNvPr id="15" name="Text 10"/>
          <p:cNvSpPr/>
          <p:nvPr/>
        </p:nvSpPr>
        <p:spPr>
          <a:xfrm>
            <a:off x="4069080" y="2852928"/>
            <a:ext cx="2971800" cy="512064"/>
          </a:xfrm>
          <a:prstGeom prst="rect">
            <a:avLst/>
          </a:prstGeom>
          <a:noFill/>
          <a:ln/>
        </p:spPr>
        <p:txBody>
          <a:bodyPr wrap="square" rtlCol="0" anchor="ctr"/>
          <a:lstStyle/>
          <a:p>
            <a:pPr marL="0" indent="0">
              <a:lnSpc>
                <a:spcPct val="105000"/>
              </a:lnSpc>
              <a:buNone/>
            </a:pPr>
            <a:r>
              <a:rPr lang="en-US" sz="1050" b="1" dirty="0">
                <a:solidFill>
                  <a:srgbClr val="1C2541"/>
                </a:solidFill>
                <a:latin typeface="Calibri" pitchFamily="34" charset="0"/>
                <a:ea typeface="Calibri" pitchFamily="34" charset="-122"/>
                <a:cs typeface="Calibri" pitchFamily="34" charset="-120"/>
              </a:rPr>
              <a:t>Receipt Card guarantees a defined next update</a:t>
            </a:r>
            <a:endParaRPr lang="en-US" sz="1050" dirty="0"/>
          </a:p>
        </p:txBody>
      </p:sp>
      <p:sp>
        <p:nvSpPr>
          <p:cNvPr id="16" name="Shape 11"/>
          <p:cNvSpPr/>
          <p:nvPr/>
        </p:nvSpPr>
        <p:spPr>
          <a:xfrm>
            <a:off x="640080" y="3511296"/>
            <a:ext cx="6492240" cy="621792"/>
          </a:xfrm>
          <a:prstGeom prst="roundRect">
            <a:avLst>
              <a:gd name="adj" fmla="val 7353"/>
            </a:avLst>
          </a:prstGeom>
          <a:solidFill>
            <a:srgbClr val="F4F5F7"/>
          </a:solidFill>
          <a:ln/>
        </p:spPr>
        <p:txBody>
          <a:bodyPr/>
          <a:lstStyle/>
          <a:p>
            <a:endParaRPr lang="zh-CN" altLang="en-US"/>
          </a:p>
        </p:txBody>
      </p:sp>
      <p:sp>
        <p:nvSpPr>
          <p:cNvPr id="17" name="Text 12"/>
          <p:cNvSpPr/>
          <p:nvPr/>
        </p:nvSpPr>
        <p:spPr>
          <a:xfrm>
            <a:off x="822960" y="3566160"/>
            <a:ext cx="2834640" cy="512064"/>
          </a:xfrm>
          <a:prstGeom prst="rect">
            <a:avLst/>
          </a:prstGeom>
          <a:noFill/>
          <a:ln/>
        </p:spPr>
        <p:txBody>
          <a:bodyPr wrap="square" rtlCol="0" anchor="ctr"/>
          <a:lstStyle/>
          <a:p>
            <a:pPr marL="0" indent="0">
              <a:lnSpc>
                <a:spcPct val="105000"/>
              </a:lnSpc>
              <a:buNone/>
            </a:pPr>
            <a:r>
              <a:rPr lang="en-US" sz="1050" dirty="0">
                <a:solidFill>
                  <a:srgbClr val="222831"/>
                </a:solidFill>
                <a:latin typeface="Calibri" pitchFamily="34" charset="0"/>
                <a:ea typeface="Calibri" pitchFamily="34" charset="-122"/>
                <a:cs typeface="Calibri" pitchFamily="34" charset="-120"/>
              </a:rPr>
              <a:t>Relevant parties unclear</a:t>
            </a:r>
            <a:endParaRPr lang="en-US" sz="1050" dirty="0"/>
          </a:p>
        </p:txBody>
      </p:sp>
      <p:pic>
        <p:nvPicPr>
          <p:cNvPr id="18" name="Image 3" descr="/Users/devonma/Desktop/9106/Assignment/A2b/build/icons/trend.png"/>
          <p:cNvPicPr>
            <a:picLocks noChangeAspect="1"/>
          </p:cNvPicPr>
          <p:nvPr/>
        </p:nvPicPr>
        <p:blipFill>
          <a:blip r:embed="rId3"/>
          <a:stretch>
            <a:fillRect/>
          </a:stretch>
        </p:blipFill>
        <p:spPr>
          <a:xfrm>
            <a:off x="3703320" y="3703320"/>
            <a:ext cx="237744" cy="237744"/>
          </a:xfrm>
          <a:prstGeom prst="rect">
            <a:avLst/>
          </a:prstGeom>
        </p:spPr>
      </p:pic>
      <p:sp>
        <p:nvSpPr>
          <p:cNvPr id="19" name="Text 13"/>
          <p:cNvSpPr/>
          <p:nvPr/>
        </p:nvSpPr>
        <p:spPr>
          <a:xfrm>
            <a:off x="4069080" y="3566160"/>
            <a:ext cx="2971800" cy="512064"/>
          </a:xfrm>
          <a:prstGeom prst="rect">
            <a:avLst/>
          </a:prstGeom>
          <a:noFill/>
          <a:ln/>
        </p:spPr>
        <p:txBody>
          <a:bodyPr wrap="square" rtlCol="0" anchor="ctr"/>
          <a:lstStyle/>
          <a:p>
            <a:pPr marL="0" indent="0">
              <a:lnSpc>
                <a:spcPct val="105000"/>
              </a:lnSpc>
              <a:buNone/>
            </a:pPr>
            <a:r>
              <a:rPr lang="en-US" sz="1050" b="1" dirty="0">
                <a:solidFill>
                  <a:srgbClr val="1C2541"/>
                </a:solidFill>
                <a:latin typeface="Calibri" pitchFamily="34" charset="0"/>
                <a:ea typeface="Calibri" pitchFamily="34" charset="-122"/>
                <a:cs typeface="Calibri" pitchFamily="34" charset="-120"/>
              </a:rPr>
              <a:t>Both show the current responsible party</a:t>
            </a:r>
            <a:endParaRPr lang="en-US" sz="1050" dirty="0"/>
          </a:p>
        </p:txBody>
      </p:sp>
      <p:sp>
        <p:nvSpPr>
          <p:cNvPr id="20" name="Shape 14"/>
          <p:cNvSpPr/>
          <p:nvPr/>
        </p:nvSpPr>
        <p:spPr>
          <a:xfrm>
            <a:off x="640080" y="4224528"/>
            <a:ext cx="6492240" cy="621792"/>
          </a:xfrm>
          <a:prstGeom prst="roundRect">
            <a:avLst>
              <a:gd name="adj" fmla="val 7353"/>
            </a:avLst>
          </a:prstGeom>
          <a:solidFill>
            <a:srgbClr val="F4F5F7"/>
          </a:solidFill>
          <a:ln/>
        </p:spPr>
        <p:txBody>
          <a:bodyPr/>
          <a:lstStyle/>
          <a:p>
            <a:endParaRPr lang="zh-CN" altLang="en-US"/>
          </a:p>
        </p:txBody>
      </p:sp>
      <p:sp>
        <p:nvSpPr>
          <p:cNvPr id="21" name="Text 15"/>
          <p:cNvSpPr/>
          <p:nvPr/>
        </p:nvSpPr>
        <p:spPr>
          <a:xfrm>
            <a:off x="822960" y="4279392"/>
            <a:ext cx="2834640" cy="512064"/>
          </a:xfrm>
          <a:prstGeom prst="rect">
            <a:avLst/>
          </a:prstGeom>
          <a:noFill/>
          <a:ln/>
        </p:spPr>
        <p:txBody>
          <a:bodyPr wrap="square" rtlCol="0" anchor="ctr"/>
          <a:lstStyle/>
          <a:p>
            <a:pPr marL="0" indent="0">
              <a:lnSpc>
                <a:spcPct val="105000"/>
              </a:lnSpc>
              <a:buNone/>
            </a:pPr>
            <a:r>
              <a:rPr lang="en-US" sz="1050" dirty="0">
                <a:solidFill>
                  <a:srgbClr val="222831"/>
                </a:solidFill>
                <a:latin typeface="Calibri" pitchFamily="34" charset="0"/>
                <a:ea typeface="Calibri" pitchFamily="34" charset="-122"/>
                <a:cs typeface="Calibri" pitchFamily="34" charset="-120"/>
              </a:rPr>
              <a:t>Longer than expected</a:t>
            </a:r>
            <a:endParaRPr lang="en-US" sz="1050" dirty="0"/>
          </a:p>
        </p:txBody>
      </p:sp>
      <p:pic>
        <p:nvPicPr>
          <p:cNvPr id="22" name="Image 4" descr="/Users/devonma/Desktop/9106/Assignment/A2b/build/icons/trend.png"/>
          <p:cNvPicPr>
            <a:picLocks noChangeAspect="1"/>
          </p:cNvPicPr>
          <p:nvPr/>
        </p:nvPicPr>
        <p:blipFill>
          <a:blip r:embed="rId3"/>
          <a:stretch>
            <a:fillRect/>
          </a:stretch>
        </p:blipFill>
        <p:spPr>
          <a:xfrm>
            <a:off x="3703320" y="4416552"/>
            <a:ext cx="237744" cy="237744"/>
          </a:xfrm>
          <a:prstGeom prst="rect">
            <a:avLst/>
          </a:prstGeom>
        </p:spPr>
      </p:pic>
      <p:sp>
        <p:nvSpPr>
          <p:cNvPr id="23" name="Text 16"/>
          <p:cNvSpPr/>
          <p:nvPr/>
        </p:nvSpPr>
        <p:spPr>
          <a:xfrm>
            <a:off x="4069080" y="4279392"/>
            <a:ext cx="2971800" cy="512064"/>
          </a:xfrm>
          <a:prstGeom prst="rect">
            <a:avLst/>
          </a:prstGeom>
          <a:noFill/>
          <a:ln/>
        </p:spPr>
        <p:txBody>
          <a:bodyPr wrap="square" rtlCol="0" anchor="ctr"/>
          <a:lstStyle/>
          <a:p>
            <a:pPr marL="0" indent="0">
              <a:lnSpc>
                <a:spcPct val="105000"/>
              </a:lnSpc>
              <a:buNone/>
            </a:pPr>
            <a:r>
              <a:rPr lang="en-US" sz="1050" b="1" dirty="0">
                <a:solidFill>
                  <a:srgbClr val="1C2541"/>
                </a:solidFill>
                <a:latin typeface="Calibri" pitchFamily="34" charset="0"/>
                <a:ea typeface="Calibri" pitchFamily="34" charset="-122"/>
                <a:cs typeface="Calibri" pitchFamily="34" charset="-120"/>
              </a:rPr>
              <a:t>Stage ranges replace silence — an “explained” wait</a:t>
            </a:r>
            <a:endParaRPr lang="en-US" sz="1050" dirty="0"/>
          </a:p>
        </p:txBody>
      </p:sp>
      <p:sp>
        <p:nvSpPr>
          <p:cNvPr id="24" name="Shape 17"/>
          <p:cNvSpPr/>
          <p:nvPr/>
        </p:nvSpPr>
        <p:spPr>
          <a:xfrm>
            <a:off x="640080" y="4937760"/>
            <a:ext cx="6492240" cy="621792"/>
          </a:xfrm>
          <a:prstGeom prst="roundRect">
            <a:avLst>
              <a:gd name="adj" fmla="val 7353"/>
            </a:avLst>
          </a:prstGeom>
          <a:solidFill>
            <a:srgbClr val="F4F5F7"/>
          </a:solidFill>
          <a:ln/>
        </p:spPr>
        <p:txBody>
          <a:bodyPr/>
          <a:lstStyle/>
          <a:p>
            <a:endParaRPr lang="zh-CN" altLang="en-US"/>
          </a:p>
        </p:txBody>
      </p:sp>
      <p:sp>
        <p:nvSpPr>
          <p:cNvPr id="25" name="Text 18"/>
          <p:cNvSpPr/>
          <p:nvPr/>
        </p:nvSpPr>
        <p:spPr>
          <a:xfrm>
            <a:off x="822960" y="4992624"/>
            <a:ext cx="2834640" cy="512064"/>
          </a:xfrm>
          <a:prstGeom prst="rect">
            <a:avLst/>
          </a:prstGeom>
          <a:noFill/>
          <a:ln/>
        </p:spPr>
        <p:txBody>
          <a:bodyPr wrap="square" rtlCol="0" anchor="ctr"/>
          <a:lstStyle/>
          <a:p>
            <a:pPr marL="0" indent="0">
              <a:lnSpc>
                <a:spcPct val="105000"/>
              </a:lnSpc>
              <a:buNone/>
            </a:pPr>
            <a:r>
              <a:rPr lang="en-US" sz="1050" dirty="0">
                <a:solidFill>
                  <a:srgbClr val="222831"/>
                </a:solidFill>
                <a:latin typeface="Calibri" pitchFamily="34" charset="0"/>
                <a:ea typeface="Calibri" pitchFamily="34" charset="-122"/>
                <a:cs typeface="Calibri" pitchFamily="34" charset="-120"/>
              </a:rPr>
              <a:t>Disrupts other life plans</a:t>
            </a:r>
            <a:endParaRPr lang="en-US" sz="1050" dirty="0"/>
          </a:p>
        </p:txBody>
      </p:sp>
      <p:pic>
        <p:nvPicPr>
          <p:cNvPr id="26" name="Image 5" descr="/Users/devonma/Desktop/9106/Assignment/A2b/build/icons/trend.png"/>
          <p:cNvPicPr>
            <a:picLocks noChangeAspect="1"/>
          </p:cNvPicPr>
          <p:nvPr/>
        </p:nvPicPr>
        <p:blipFill>
          <a:blip r:embed="rId3"/>
          <a:stretch>
            <a:fillRect/>
          </a:stretch>
        </p:blipFill>
        <p:spPr>
          <a:xfrm>
            <a:off x="3703320" y="5129784"/>
            <a:ext cx="237744" cy="237744"/>
          </a:xfrm>
          <a:prstGeom prst="rect">
            <a:avLst/>
          </a:prstGeom>
        </p:spPr>
      </p:pic>
      <p:sp>
        <p:nvSpPr>
          <p:cNvPr id="27" name="Text 19"/>
          <p:cNvSpPr/>
          <p:nvPr/>
        </p:nvSpPr>
        <p:spPr>
          <a:xfrm>
            <a:off x="4069080" y="4992624"/>
            <a:ext cx="2971800" cy="512064"/>
          </a:xfrm>
          <a:prstGeom prst="rect">
            <a:avLst/>
          </a:prstGeom>
          <a:noFill/>
          <a:ln/>
        </p:spPr>
        <p:txBody>
          <a:bodyPr wrap="square" rtlCol="0" anchor="ctr"/>
          <a:lstStyle/>
          <a:p>
            <a:pPr marL="0" indent="0">
              <a:lnSpc>
                <a:spcPct val="105000"/>
              </a:lnSpc>
              <a:buNone/>
            </a:pPr>
            <a:r>
              <a:rPr lang="en-US" sz="1050" b="1" dirty="0">
                <a:solidFill>
                  <a:srgbClr val="1C2541"/>
                </a:solidFill>
                <a:latin typeface="Calibri" pitchFamily="34" charset="0"/>
                <a:ea typeface="Calibri" pitchFamily="34" charset="-122"/>
                <a:cs typeface="Calibri" pitchFamily="34" charset="-120"/>
              </a:rPr>
              <a:t>A known next check-in replaces an unknown end date</a:t>
            </a:r>
            <a:endParaRPr lang="en-US" sz="1050" dirty="0"/>
          </a:p>
        </p:txBody>
      </p:sp>
      <p:sp>
        <p:nvSpPr>
          <p:cNvPr id="28" name="Shape 20"/>
          <p:cNvSpPr/>
          <p:nvPr/>
        </p:nvSpPr>
        <p:spPr>
          <a:xfrm>
            <a:off x="7406640" y="1371600"/>
            <a:ext cx="4160520" cy="4663440"/>
          </a:xfrm>
          <a:prstGeom prst="roundRect">
            <a:avLst>
              <a:gd name="adj" fmla="val 2198"/>
            </a:avLst>
          </a:prstGeom>
          <a:solidFill>
            <a:srgbClr val="1C2541"/>
          </a:solidFill>
          <a:ln/>
        </p:spPr>
        <p:txBody>
          <a:bodyPr/>
          <a:lstStyle/>
          <a:p>
            <a:endParaRPr lang="zh-CN" altLang="en-US"/>
          </a:p>
        </p:txBody>
      </p:sp>
      <p:sp>
        <p:nvSpPr>
          <p:cNvPr id="29" name="Text 21"/>
          <p:cNvSpPr/>
          <p:nvPr/>
        </p:nvSpPr>
        <p:spPr>
          <a:xfrm>
            <a:off x="7680960" y="1600200"/>
            <a:ext cx="3657600" cy="274320"/>
          </a:xfrm>
          <a:prstGeom prst="rect">
            <a:avLst/>
          </a:prstGeom>
          <a:noFill/>
          <a:ln/>
        </p:spPr>
        <p:txBody>
          <a:bodyPr wrap="square" rtlCol="0" anchor="ctr"/>
          <a:lstStyle/>
          <a:p>
            <a:pPr marL="0" indent="0">
              <a:buNone/>
            </a:pPr>
            <a:r>
              <a:rPr lang="en-US" sz="1050" b="1" kern="0" spc="100" dirty="0">
                <a:solidFill>
                  <a:srgbClr val="D9782D"/>
                </a:solidFill>
                <a:latin typeface="Calibri" pitchFamily="34" charset="0"/>
                <a:ea typeface="Calibri" pitchFamily="34" charset="-122"/>
                <a:cs typeface="Calibri" pitchFamily="34" charset="-120"/>
              </a:rPr>
              <a:t>NEXT STEPS TOWARD A2C</a:t>
            </a:r>
            <a:endParaRPr lang="en-US" sz="1050" dirty="0"/>
          </a:p>
        </p:txBody>
      </p:sp>
      <p:sp>
        <p:nvSpPr>
          <p:cNvPr id="30" name="Shape 22"/>
          <p:cNvSpPr/>
          <p:nvPr/>
        </p:nvSpPr>
        <p:spPr>
          <a:xfrm>
            <a:off x="7680960" y="1965960"/>
            <a:ext cx="310896" cy="310896"/>
          </a:xfrm>
          <a:prstGeom prst="ellipse">
            <a:avLst/>
          </a:prstGeom>
          <a:solidFill>
            <a:srgbClr val="D9782D"/>
          </a:solidFill>
          <a:ln/>
        </p:spPr>
        <p:txBody>
          <a:bodyPr/>
          <a:lstStyle/>
          <a:p>
            <a:endParaRPr lang="zh-CN" altLang="en-US"/>
          </a:p>
        </p:txBody>
      </p:sp>
      <p:sp>
        <p:nvSpPr>
          <p:cNvPr id="31" name="Text 23"/>
          <p:cNvSpPr/>
          <p:nvPr/>
        </p:nvSpPr>
        <p:spPr>
          <a:xfrm>
            <a:off x="7680960" y="1965960"/>
            <a:ext cx="310896" cy="310896"/>
          </a:xfrm>
          <a:prstGeom prst="rect">
            <a:avLst/>
          </a:prstGeom>
          <a:noFill/>
          <a:ln/>
        </p:spPr>
        <p:txBody>
          <a:bodyPr wrap="square" rtlCol="0" anchor="ctr"/>
          <a:lstStyle/>
          <a:p>
            <a:pPr marL="0" indent="0" algn="ctr">
              <a:buNone/>
            </a:pPr>
            <a:r>
              <a:rPr lang="en-US" sz="1100" b="1" dirty="0">
                <a:solidFill>
                  <a:srgbClr val="1C2541"/>
                </a:solidFill>
                <a:latin typeface="Calibri" pitchFamily="34" charset="0"/>
                <a:ea typeface="Calibri" pitchFamily="34" charset="-122"/>
                <a:cs typeface="Calibri" pitchFamily="34" charset="-120"/>
              </a:rPr>
              <a:t>1</a:t>
            </a:r>
            <a:endParaRPr lang="en-US" sz="1100" dirty="0"/>
          </a:p>
        </p:txBody>
      </p:sp>
      <p:sp>
        <p:nvSpPr>
          <p:cNvPr id="32" name="Text 24"/>
          <p:cNvSpPr/>
          <p:nvPr/>
        </p:nvSpPr>
        <p:spPr>
          <a:xfrm>
            <a:off x="8119872" y="1920240"/>
            <a:ext cx="3291840" cy="777240"/>
          </a:xfrm>
          <a:prstGeom prst="rect">
            <a:avLst/>
          </a:prstGeom>
          <a:noFill/>
          <a:ln/>
        </p:spPr>
        <p:txBody>
          <a:bodyPr wrap="square" rtlCol="0" anchor="ctr"/>
          <a:lstStyle/>
          <a:p>
            <a:pPr marL="0" indent="0">
              <a:lnSpc>
                <a:spcPct val="115000"/>
              </a:lnSpc>
              <a:buNone/>
            </a:pPr>
            <a:r>
              <a:rPr lang="en-US" sz="1080" dirty="0">
                <a:solidFill>
                  <a:srgbClr val="FFFFFF"/>
                </a:solidFill>
                <a:latin typeface="Calibri" pitchFamily="34" charset="0"/>
                <a:ea typeface="Calibri" pitchFamily="34" charset="-122"/>
                <a:cs typeface="Calibri" pitchFamily="34" charset="-120"/>
              </a:rPr>
              <a:t>Build the lo-fi prototype into a testable 5-minute station</a:t>
            </a:r>
            <a:endParaRPr lang="en-US" sz="1080" dirty="0"/>
          </a:p>
        </p:txBody>
      </p:sp>
      <p:sp>
        <p:nvSpPr>
          <p:cNvPr id="33" name="Shape 25"/>
          <p:cNvSpPr/>
          <p:nvPr/>
        </p:nvSpPr>
        <p:spPr>
          <a:xfrm>
            <a:off x="7680960" y="2926080"/>
            <a:ext cx="310896" cy="310896"/>
          </a:xfrm>
          <a:prstGeom prst="ellipse">
            <a:avLst/>
          </a:prstGeom>
          <a:solidFill>
            <a:srgbClr val="D9782D"/>
          </a:solidFill>
          <a:ln/>
        </p:spPr>
        <p:txBody>
          <a:bodyPr/>
          <a:lstStyle/>
          <a:p>
            <a:endParaRPr lang="zh-CN" altLang="en-US"/>
          </a:p>
        </p:txBody>
      </p:sp>
      <p:sp>
        <p:nvSpPr>
          <p:cNvPr id="34" name="Text 26"/>
          <p:cNvSpPr/>
          <p:nvPr/>
        </p:nvSpPr>
        <p:spPr>
          <a:xfrm>
            <a:off x="7680960" y="2926080"/>
            <a:ext cx="310896" cy="310896"/>
          </a:xfrm>
          <a:prstGeom prst="rect">
            <a:avLst/>
          </a:prstGeom>
          <a:noFill/>
          <a:ln/>
        </p:spPr>
        <p:txBody>
          <a:bodyPr wrap="square" rtlCol="0" anchor="ctr"/>
          <a:lstStyle/>
          <a:p>
            <a:pPr marL="0" indent="0" algn="ctr">
              <a:buNone/>
            </a:pPr>
            <a:r>
              <a:rPr lang="en-US" sz="1100" b="1" dirty="0">
                <a:solidFill>
                  <a:srgbClr val="1C2541"/>
                </a:solidFill>
                <a:latin typeface="Calibri" pitchFamily="34" charset="0"/>
                <a:ea typeface="Calibri" pitchFamily="34" charset="-122"/>
                <a:cs typeface="Calibri" pitchFamily="34" charset="-120"/>
              </a:rPr>
              <a:t>2</a:t>
            </a:r>
            <a:endParaRPr lang="en-US" sz="1100" dirty="0"/>
          </a:p>
        </p:txBody>
      </p:sp>
      <p:sp>
        <p:nvSpPr>
          <p:cNvPr id="35" name="Text 27"/>
          <p:cNvSpPr/>
          <p:nvPr/>
        </p:nvSpPr>
        <p:spPr>
          <a:xfrm>
            <a:off x="8119872" y="2880360"/>
            <a:ext cx="3291840" cy="777240"/>
          </a:xfrm>
          <a:prstGeom prst="rect">
            <a:avLst/>
          </a:prstGeom>
          <a:noFill/>
          <a:ln/>
        </p:spPr>
        <p:txBody>
          <a:bodyPr wrap="square" rtlCol="0" anchor="ctr"/>
          <a:lstStyle/>
          <a:p>
            <a:pPr marL="0" indent="0">
              <a:lnSpc>
                <a:spcPct val="115000"/>
              </a:lnSpc>
              <a:buNone/>
            </a:pPr>
            <a:r>
              <a:rPr lang="en-US" sz="1080" dirty="0">
                <a:solidFill>
                  <a:srgbClr val="FFFFFF"/>
                </a:solidFill>
                <a:latin typeface="Calibri" pitchFamily="34" charset="0"/>
                <a:ea typeface="Calibri" pitchFamily="34" charset="-122"/>
                <a:cs typeface="Calibri" pitchFamily="34" charset="-120"/>
              </a:rPr>
              <a:t>Test with strangers: does seeing a stage change how long the wait feels?</a:t>
            </a:r>
            <a:endParaRPr lang="en-US" sz="1080" dirty="0"/>
          </a:p>
        </p:txBody>
      </p:sp>
      <p:sp>
        <p:nvSpPr>
          <p:cNvPr id="36" name="Shape 28"/>
          <p:cNvSpPr/>
          <p:nvPr/>
        </p:nvSpPr>
        <p:spPr>
          <a:xfrm>
            <a:off x="7680960" y="3886200"/>
            <a:ext cx="310896" cy="310896"/>
          </a:xfrm>
          <a:prstGeom prst="ellipse">
            <a:avLst/>
          </a:prstGeom>
          <a:solidFill>
            <a:srgbClr val="D9782D"/>
          </a:solidFill>
          <a:ln/>
        </p:spPr>
        <p:txBody>
          <a:bodyPr/>
          <a:lstStyle/>
          <a:p>
            <a:endParaRPr lang="zh-CN" altLang="en-US"/>
          </a:p>
        </p:txBody>
      </p:sp>
      <p:sp>
        <p:nvSpPr>
          <p:cNvPr id="37" name="Text 29"/>
          <p:cNvSpPr/>
          <p:nvPr/>
        </p:nvSpPr>
        <p:spPr>
          <a:xfrm>
            <a:off x="7680960" y="3886200"/>
            <a:ext cx="310896" cy="310896"/>
          </a:xfrm>
          <a:prstGeom prst="rect">
            <a:avLst/>
          </a:prstGeom>
          <a:noFill/>
          <a:ln/>
        </p:spPr>
        <p:txBody>
          <a:bodyPr wrap="square" rtlCol="0" anchor="ctr"/>
          <a:lstStyle/>
          <a:p>
            <a:pPr marL="0" indent="0" algn="ctr">
              <a:buNone/>
            </a:pPr>
            <a:r>
              <a:rPr lang="en-US" sz="1100" b="1" dirty="0">
                <a:solidFill>
                  <a:srgbClr val="1C2541"/>
                </a:solidFill>
                <a:latin typeface="Calibri" pitchFamily="34" charset="0"/>
                <a:ea typeface="Calibri" pitchFamily="34" charset="-122"/>
                <a:cs typeface="Calibri" pitchFamily="34" charset="-120"/>
              </a:rPr>
              <a:t>3</a:t>
            </a:r>
            <a:endParaRPr lang="en-US" sz="1100" dirty="0"/>
          </a:p>
        </p:txBody>
      </p:sp>
      <p:sp>
        <p:nvSpPr>
          <p:cNvPr id="38" name="Text 30"/>
          <p:cNvSpPr/>
          <p:nvPr/>
        </p:nvSpPr>
        <p:spPr>
          <a:xfrm>
            <a:off x="8119872" y="3840480"/>
            <a:ext cx="3291840" cy="777240"/>
          </a:xfrm>
          <a:prstGeom prst="rect">
            <a:avLst/>
          </a:prstGeom>
          <a:noFill/>
          <a:ln/>
        </p:spPr>
        <p:txBody>
          <a:bodyPr wrap="square" rtlCol="0" anchor="ctr"/>
          <a:lstStyle/>
          <a:p>
            <a:pPr marL="0" indent="0">
              <a:lnSpc>
                <a:spcPct val="115000"/>
              </a:lnSpc>
              <a:buNone/>
            </a:pPr>
            <a:r>
              <a:rPr lang="en-US" sz="1080" dirty="0">
                <a:solidFill>
                  <a:srgbClr val="FFFFFF"/>
                </a:solidFill>
                <a:latin typeface="Calibri" pitchFamily="34" charset="0"/>
                <a:ea typeface="Calibri" pitchFamily="34" charset="-122"/>
                <a:cs typeface="Calibri" pitchFamily="34" charset="-120"/>
              </a:rPr>
              <a:t>Open question: does the “next update” promise hold up under real workload?</a:t>
            </a:r>
            <a:endParaRPr lang="en-US" sz="1080" dirty="0"/>
          </a:p>
        </p:txBody>
      </p:sp>
      <p:sp>
        <p:nvSpPr>
          <p:cNvPr id="39" name="Shape 31"/>
          <p:cNvSpPr/>
          <p:nvPr/>
        </p:nvSpPr>
        <p:spPr>
          <a:xfrm>
            <a:off x="7680960" y="4846320"/>
            <a:ext cx="310896" cy="310896"/>
          </a:xfrm>
          <a:prstGeom prst="ellipse">
            <a:avLst/>
          </a:prstGeom>
          <a:solidFill>
            <a:srgbClr val="D9782D"/>
          </a:solidFill>
          <a:ln/>
        </p:spPr>
        <p:txBody>
          <a:bodyPr/>
          <a:lstStyle/>
          <a:p>
            <a:endParaRPr lang="zh-CN" altLang="en-US"/>
          </a:p>
        </p:txBody>
      </p:sp>
      <p:sp>
        <p:nvSpPr>
          <p:cNvPr id="40" name="Text 32"/>
          <p:cNvSpPr/>
          <p:nvPr/>
        </p:nvSpPr>
        <p:spPr>
          <a:xfrm>
            <a:off x="7680960" y="4846320"/>
            <a:ext cx="310896" cy="310896"/>
          </a:xfrm>
          <a:prstGeom prst="rect">
            <a:avLst/>
          </a:prstGeom>
          <a:noFill/>
          <a:ln/>
        </p:spPr>
        <p:txBody>
          <a:bodyPr wrap="square" rtlCol="0" anchor="ctr"/>
          <a:lstStyle/>
          <a:p>
            <a:pPr marL="0" indent="0" algn="ctr">
              <a:buNone/>
            </a:pPr>
            <a:r>
              <a:rPr lang="en-US" sz="1100" b="1" dirty="0">
                <a:solidFill>
                  <a:srgbClr val="1C2541"/>
                </a:solidFill>
                <a:latin typeface="Calibri" pitchFamily="34" charset="0"/>
                <a:ea typeface="Calibri" pitchFamily="34" charset="-122"/>
                <a:cs typeface="Calibri" pitchFamily="34" charset="-120"/>
              </a:rPr>
              <a:t>4</a:t>
            </a:r>
            <a:endParaRPr lang="en-US" sz="1100" dirty="0"/>
          </a:p>
        </p:txBody>
      </p:sp>
      <p:sp>
        <p:nvSpPr>
          <p:cNvPr id="41" name="Text 33"/>
          <p:cNvSpPr/>
          <p:nvPr/>
        </p:nvSpPr>
        <p:spPr>
          <a:xfrm>
            <a:off x="8119872" y="4800600"/>
            <a:ext cx="3291840" cy="777240"/>
          </a:xfrm>
          <a:prstGeom prst="rect">
            <a:avLst/>
          </a:prstGeom>
          <a:noFill/>
          <a:ln/>
        </p:spPr>
        <p:txBody>
          <a:bodyPr wrap="square" rtlCol="0" anchor="ctr"/>
          <a:lstStyle/>
          <a:p>
            <a:pPr marL="0" indent="0">
              <a:lnSpc>
                <a:spcPct val="115000"/>
              </a:lnSpc>
              <a:buNone/>
            </a:pPr>
            <a:r>
              <a:rPr lang="en-US" sz="1080" dirty="0">
                <a:solidFill>
                  <a:srgbClr val="FFFFFF"/>
                </a:solidFill>
                <a:latin typeface="Calibri" pitchFamily="34" charset="0"/>
                <a:ea typeface="Calibri" pitchFamily="34" charset="-122"/>
                <a:cs typeface="Calibri" pitchFamily="34" charset="-120"/>
              </a:rPr>
              <a:t>Explore Resident Constraints Input once the core loop is validated</a:t>
            </a:r>
            <a:endParaRPr lang="en-US" sz="1080" dirty="0"/>
          </a:p>
        </p:txBody>
      </p:sp>
      <p:sp>
        <p:nvSpPr>
          <p:cNvPr id="42" name="Text 34"/>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A2ABB8"/>
                </a:solidFill>
                <a:latin typeface="Calibri" pitchFamily="34" charset="0"/>
                <a:ea typeface="Calibri" pitchFamily="34" charset="-122"/>
                <a:cs typeface="Calibri" pitchFamily="34" charset="-120"/>
              </a:rPr>
              <a:t>RhodesReg · IDEA9106 A2b Progress Presentation</a:t>
            </a:r>
            <a:endParaRPr lang="en-US" sz="900" dirty="0"/>
          </a:p>
        </p:txBody>
      </p:sp>
      <p:sp>
        <p:nvSpPr>
          <p:cNvPr id="43" name="Text 3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A2AB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2541"/>
        </a:solidFill>
        <a:effectLst/>
      </p:bgPr>
    </p:bg>
    <p:spTree>
      <p:nvGrpSpPr>
        <p:cNvPr id="1" name=""/>
        <p:cNvGrpSpPr/>
        <p:nvPr/>
      </p:nvGrpSpPr>
      <p:grpSpPr>
        <a:xfrm>
          <a:off x="0" y="0"/>
          <a:ext cx="0" cy="0"/>
          <a:chOff x="0" y="0"/>
          <a:chExt cx="0" cy="0"/>
        </a:xfrm>
      </p:grpSpPr>
      <p:sp>
        <p:nvSpPr>
          <p:cNvPr id="2" name="Text 0"/>
          <p:cNvSpPr/>
          <p:nvPr/>
        </p:nvSpPr>
        <p:spPr>
          <a:xfrm>
            <a:off x="640080" y="457200"/>
            <a:ext cx="9144000" cy="5029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References &amp; AI Appendix</a:t>
            </a:r>
            <a:endParaRPr lang="en-US" sz="2800" dirty="0"/>
          </a:p>
        </p:txBody>
      </p:sp>
      <p:sp>
        <p:nvSpPr>
          <p:cNvPr id="3" name="Text 1"/>
          <p:cNvSpPr/>
          <p:nvPr/>
        </p:nvSpPr>
        <p:spPr>
          <a:xfrm>
            <a:off x="640080" y="1143000"/>
            <a:ext cx="5029200" cy="274320"/>
          </a:xfrm>
          <a:prstGeom prst="rect">
            <a:avLst/>
          </a:prstGeom>
          <a:noFill/>
          <a:ln/>
        </p:spPr>
        <p:txBody>
          <a:bodyPr wrap="square" rtlCol="0" anchor="ctr"/>
          <a:lstStyle/>
          <a:p>
            <a:pPr marL="0" indent="0">
              <a:buNone/>
            </a:pPr>
            <a:r>
              <a:rPr lang="en-US" sz="1100" b="1" kern="0" spc="100" dirty="0">
                <a:solidFill>
                  <a:srgbClr val="D9782D"/>
                </a:solidFill>
                <a:latin typeface="Calibri" pitchFamily="34" charset="0"/>
                <a:ea typeface="Calibri" pitchFamily="34" charset="-122"/>
                <a:cs typeface="Calibri" pitchFamily="34" charset="-120"/>
              </a:rPr>
              <a:t>REFERENCES (APA7)</a:t>
            </a:r>
            <a:endParaRPr lang="en-US" sz="1100" dirty="0"/>
          </a:p>
        </p:txBody>
      </p:sp>
      <p:sp>
        <p:nvSpPr>
          <p:cNvPr id="4" name="Text 2"/>
          <p:cNvSpPr/>
          <p:nvPr/>
        </p:nvSpPr>
        <p:spPr>
          <a:xfrm>
            <a:off x="640080" y="1481328"/>
            <a:ext cx="5394960" cy="4572000"/>
          </a:xfrm>
          <a:prstGeom prst="rect">
            <a:avLst/>
          </a:prstGeom>
          <a:noFill/>
          <a:ln/>
        </p:spPr>
        <p:txBody>
          <a:bodyPr wrap="square" rtlCol="0" anchor="ctr"/>
          <a:lstStyle/>
          <a:p>
            <a:pPr marL="0" indent="0">
              <a:lnSpc>
                <a:spcPct val="115000"/>
              </a:lnSpc>
              <a:spcAft>
                <a:spcPts val="800"/>
              </a:spcAft>
              <a:buNone/>
            </a:pPr>
            <a:r>
              <a:rPr lang="en-US" sz="930" dirty="0">
                <a:solidFill>
                  <a:srgbClr val="CFE0E8"/>
                </a:solidFill>
                <a:latin typeface="Calibri" pitchFamily="34" charset="0"/>
                <a:ea typeface="Calibri" pitchFamily="34" charset="-122"/>
                <a:cs typeface="Calibri" pitchFamily="34" charset="-120"/>
              </a:rPr>
              <a:t>Coghill, S. (2025, June 25). Aussie’s $230 hotel bill after being stranded outside home highlights ‘sad’ problem. Yahoo News Australia.</a:t>
            </a:r>
            <a:endParaRPr lang="en-US" sz="930" dirty="0"/>
          </a:p>
          <a:p>
            <a:pPr marL="0" indent="0">
              <a:lnSpc>
                <a:spcPct val="115000"/>
              </a:lnSpc>
              <a:spcAft>
                <a:spcPts val="800"/>
              </a:spcAft>
              <a:buNone/>
            </a:pPr>
            <a:r>
              <a:rPr lang="en-US" sz="930" dirty="0">
                <a:solidFill>
                  <a:srgbClr val="CFE0E8"/>
                </a:solidFill>
                <a:latin typeface="Calibri" pitchFamily="34" charset="0"/>
                <a:ea typeface="Calibri" pitchFamily="34" charset="-122"/>
                <a:cs typeface="Calibri" pitchFamily="34" charset="-120"/>
              </a:rPr>
              <a:t>Gerathy, S. (2024, June 7). Social housing residents going without hot water as maintenance repair backlog builds. ABC News.</a:t>
            </a:r>
            <a:endParaRPr lang="en-US" sz="930" dirty="0"/>
          </a:p>
          <a:p>
            <a:pPr marL="0" indent="0">
              <a:lnSpc>
                <a:spcPct val="115000"/>
              </a:lnSpc>
              <a:spcAft>
                <a:spcPts val="800"/>
              </a:spcAft>
              <a:buNone/>
            </a:pPr>
            <a:r>
              <a:rPr lang="en-US" sz="930" dirty="0">
                <a:solidFill>
                  <a:srgbClr val="CFE0E8"/>
                </a:solidFill>
                <a:latin typeface="Calibri" pitchFamily="34" charset="0"/>
                <a:ea typeface="Calibri" pitchFamily="34" charset="-122"/>
                <a:cs typeface="Calibri" pitchFamily="34" charset="-120"/>
              </a:rPr>
              <a:t>Larson, R. C. (1987). OR Forum—Perspectives on queues: Social justice and the psychology of queueing. Operations Research, 35(6), 895–905.</a:t>
            </a:r>
            <a:endParaRPr lang="en-US" sz="930" dirty="0"/>
          </a:p>
          <a:p>
            <a:pPr marL="0" indent="0">
              <a:lnSpc>
                <a:spcPct val="115000"/>
              </a:lnSpc>
              <a:spcAft>
                <a:spcPts val="800"/>
              </a:spcAft>
              <a:buNone/>
            </a:pPr>
            <a:r>
              <a:rPr lang="en-US" sz="930" dirty="0">
                <a:solidFill>
                  <a:srgbClr val="CFE0E8"/>
                </a:solidFill>
                <a:latin typeface="Calibri" pitchFamily="34" charset="0"/>
                <a:ea typeface="Calibri" pitchFamily="34" charset="-122"/>
                <a:cs typeface="Calibri" pitchFamily="34" charset="-120"/>
              </a:rPr>
              <a:t>Maister, D. H. (1985). The psychology of waiting lines. In J. A. Czepiel, M. R. Solomon, &amp; C. F. Surprenant (Eds.), The service encounter (pp. 113–123). Lexington Books.</a:t>
            </a:r>
            <a:endParaRPr lang="en-US" sz="930" dirty="0"/>
          </a:p>
          <a:p>
            <a:pPr marL="0" indent="0">
              <a:lnSpc>
                <a:spcPct val="115000"/>
              </a:lnSpc>
              <a:spcAft>
                <a:spcPts val="800"/>
              </a:spcAft>
              <a:buNone/>
            </a:pPr>
            <a:r>
              <a:rPr lang="en-US" sz="930" dirty="0">
                <a:solidFill>
                  <a:srgbClr val="CFE0E8"/>
                </a:solidFill>
                <a:latin typeface="Calibri" pitchFamily="34" charset="0"/>
                <a:ea typeface="Calibri" pitchFamily="34" charset="-122"/>
                <a:cs typeface="Calibri" pitchFamily="34" charset="-120"/>
              </a:rPr>
              <a:t>Residential Tenancies Act 2010 (NSW).</a:t>
            </a:r>
            <a:endParaRPr lang="en-US" sz="930" dirty="0"/>
          </a:p>
          <a:p>
            <a:pPr marL="0" indent="0">
              <a:lnSpc>
                <a:spcPct val="115000"/>
              </a:lnSpc>
              <a:spcAft>
                <a:spcPts val="800"/>
              </a:spcAft>
              <a:buNone/>
            </a:pPr>
            <a:r>
              <a:rPr lang="en-US" sz="930" dirty="0">
                <a:solidFill>
                  <a:srgbClr val="CFE0E8"/>
                </a:solidFill>
                <a:latin typeface="Calibri" pitchFamily="34" charset="0"/>
                <a:ea typeface="Calibri" pitchFamily="34" charset="-122"/>
                <a:cs typeface="Calibri" pitchFamily="34" charset="-120"/>
              </a:rPr>
              <a:t>Strata Schemes Management Act 2015 (NSW).</a:t>
            </a:r>
            <a:endParaRPr lang="en-US" sz="930" dirty="0"/>
          </a:p>
        </p:txBody>
      </p:sp>
      <p:sp>
        <p:nvSpPr>
          <p:cNvPr id="5" name="Shape 3"/>
          <p:cNvSpPr/>
          <p:nvPr/>
        </p:nvSpPr>
        <p:spPr>
          <a:xfrm>
            <a:off x="6355080" y="1143000"/>
            <a:ext cx="5212080" cy="4937760"/>
          </a:xfrm>
          <a:prstGeom prst="roundRect">
            <a:avLst>
              <a:gd name="adj" fmla="val 1852"/>
            </a:avLst>
          </a:prstGeom>
          <a:solidFill>
            <a:srgbClr val="141A30"/>
          </a:solidFill>
          <a:ln/>
        </p:spPr>
        <p:txBody>
          <a:bodyPr/>
          <a:lstStyle/>
          <a:p>
            <a:endParaRPr lang="zh-CN" altLang="en-US"/>
          </a:p>
        </p:txBody>
      </p:sp>
      <p:sp>
        <p:nvSpPr>
          <p:cNvPr id="6" name="Text 4"/>
          <p:cNvSpPr/>
          <p:nvPr/>
        </p:nvSpPr>
        <p:spPr>
          <a:xfrm>
            <a:off x="6629400" y="1371600"/>
            <a:ext cx="4572000" cy="274320"/>
          </a:xfrm>
          <a:prstGeom prst="rect">
            <a:avLst/>
          </a:prstGeom>
          <a:noFill/>
          <a:ln/>
        </p:spPr>
        <p:txBody>
          <a:bodyPr wrap="square" rtlCol="0" anchor="ctr"/>
          <a:lstStyle/>
          <a:p>
            <a:pPr marL="0" indent="0">
              <a:buNone/>
            </a:pPr>
            <a:r>
              <a:rPr lang="en-US" sz="1100" b="1" kern="0" spc="100" dirty="0">
                <a:solidFill>
                  <a:srgbClr val="D9782D"/>
                </a:solidFill>
                <a:latin typeface="Calibri" pitchFamily="34" charset="0"/>
                <a:ea typeface="Calibri" pitchFamily="34" charset="-122"/>
                <a:cs typeface="Calibri" pitchFamily="34" charset="-120"/>
              </a:rPr>
              <a:t>AI APPENDIX</a:t>
            </a:r>
            <a:endParaRPr lang="en-US" sz="1100" dirty="0"/>
          </a:p>
        </p:txBody>
      </p:sp>
      <p:sp>
        <p:nvSpPr>
          <p:cNvPr id="7" name="Text 5"/>
          <p:cNvSpPr/>
          <p:nvPr/>
        </p:nvSpPr>
        <p:spPr>
          <a:xfrm>
            <a:off x="6629400" y="1737360"/>
            <a:ext cx="4709160" cy="4206240"/>
          </a:xfrm>
          <a:prstGeom prst="rect">
            <a:avLst/>
          </a:prstGeom>
          <a:noFill/>
          <a:ln/>
        </p:spPr>
        <p:txBody>
          <a:bodyPr wrap="square" rtlCol="0" anchor="ctr"/>
          <a:lstStyle/>
          <a:p>
            <a:pPr marL="0" indent="0">
              <a:lnSpc>
                <a:spcPct val="125000"/>
              </a:lnSpc>
              <a:buNone/>
            </a:pPr>
            <a:r>
              <a:rPr lang="en-US" sz="1100" dirty="0">
                <a:solidFill>
                  <a:srgbClr val="CFE0E8"/>
                </a:solidFill>
                <a:latin typeface="Calibri" pitchFamily="34" charset="0"/>
                <a:ea typeface="Calibri" pitchFamily="34" charset="-122"/>
                <a:cs typeface="Calibri" pitchFamily="34" charset="-120"/>
              </a:rPr>
              <a:t>Generative AI (Claude) was used in preparing this presentation to: structure the planning process and organise research the team had already gathered into this slide sequence; draft alternative phrasings of the reframed brief and How Might We question from insights the team identified in its own affinity mapping; help generate and evaluate concept directions grounded in the team’s research and the brief’s constraints, with the team selecting and confirming the final direction; and locate/verify primary legal sources (SSMA 2015, RTA 2010) carried over from earlier individual research.</a:t>
            </a:r>
            <a:endParaRPr lang="en-US" sz="1100" dirty="0"/>
          </a:p>
          <a:p>
            <a:pPr marL="0" indent="0">
              <a:lnSpc>
                <a:spcPct val="125000"/>
              </a:lnSpc>
              <a:buNone/>
            </a:pPr>
            <a:endParaRPr lang="en-US" sz="1100" dirty="0"/>
          </a:p>
          <a:p>
            <a:pPr marL="0" indent="0">
              <a:lnSpc>
                <a:spcPct val="125000"/>
              </a:lnSpc>
              <a:buNone/>
            </a:pPr>
            <a:r>
              <a:rPr lang="en-US" sz="1100" dirty="0">
                <a:solidFill>
                  <a:srgbClr val="CFE0E8"/>
                </a:solidFill>
                <a:latin typeface="Calibri" pitchFamily="34" charset="0"/>
                <a:ea typeface="Calibri" pitchFamily="34" charset="-122"/>
                <a:cs typeface="Calibri" pitchFamily="34" charset="-120"/>
              </a:rPr>
              <a:t>It was not used to conduct interviews, perform affinity analysis, or generate the lo-fi prototype itself. The reframed brief, concept decisions and final content are the team’s own.</a:t>
            </a:r>
            <a:endParaRPr lang="en-US" sz="1100" dirty="0"/>
          </a:p>
        </p:txBody>
      </p:sp>
      <p:sp>
        <p:nvSpPr>
          <p:cNvPr id="8" name="Text 6"/>
          <p:cNvSpPr/>
          <p:nvPr/>
        </p:nvSpPr>
        <p:spPr>
          <a:xfrm>
            <a:off x="457200" y="6537960"/>
            <a:ext cx="7315200" cy="274320"/>
          </a:xfrm>
          <a:prstGeom prst="rect">
            <a:avLst/>
          </a:prstGeom>
          <a:noFill/>
          <a:ln/>
        </p:spPr>
        <p:txBody>
          <a:bodyPr wrap="square" rtlCol="0" anchor="ctr"/>
          <a:lstStyle/>
          <a:p>
            <a:pPr marL="0" indent="0" algn="l">
              <a:buNone/>
            </a:pPr>
            <a:r>
              <a:rPr lang="en-US" sz="900" dirty="0">
                <a:solidFill>
                  <a:srgbClr val="8894A8"/>
                </a:solidFill>
                <a:latin typeface="Calibri" pitchFamily="34" charset="0"/>
                <a:ea typeface="Calibri" pitchFamily="34" charset="-122"/>
                <a:cs typeface="Calibri" pitchFamily="34" charset="-120"/>
              </a:rPr>
              <a:t>RhodesReg · IDEA9106 A2b Progress Presentation</a:t>
            </a:r>
            <a:endParaRPr lang="en-US" sz="900" dirty="0"/>
          </a:p>
        </p:txBody>
      </p:sp>
      <p:sp>
        <p:nvSpPr>
          <p:cNvPr id="9" name="Text 7"/>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8894A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1501</Words>
  <Application>Microsoft Macintosh PowerPoint</Application>
  <PresentationFormat>宽屏</PresentationFormat>
  <Paragraphs>166</Paragraphs>
  <Slides>10</Slides>
  <Notes>10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Arial</vt:lpstr>
      <vt:lpstr>Calibri</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Wenxi Ma</cp:lastModifiedBy>
  <cp:revision>2</cp:revision>
  <dcterms:created xsi:type="dcterms:W3CDTF">2026-09-21T03:03:26Z</dcterms:created>
  <dcterms:modified xsi:type="dcterms:W3CDTF">2026-09-21T07:05:50Z</dcterms:modified>
</cp:coreProperties>
</file>